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欢迎各位投资人。今天我为大家带来 SafeVault——一款让每个人都能安全、轻松管理密码的移动应用。我们的核心理念是：指纹一按，密码到手。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先看一个数字：60%。超过 60% 的数据泄露事件，直接源于弱密码或密码复用。每个人平均管理 80 到 100 个账号，但现有的解决方案要么太复杂，要么太贵，要么不信任。记不住、不安全、管理乱——这是每个人都在面对的三个致命问题。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SafeVault 的定位非常清晰：本地优先、生物识别、零学习成本。你的密码永远以加密形态存在，只有你自己——通过指纹或面容——才能解开。核心操作不超过 3 步、不超过 3 秒。这就是我们说的"指纹一按，密码到手"。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SafeVault 覆盖密码管理的全生命周期：安全认证是基石，密码库是核心，强密码生成器是工具，健康度检测是我们的差异化亮点。健康度检测能告诉你哪些密码太弱、哪些在重复使用，并且一键帮你修复——这是很多竞品都没有做到的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我们的安全架构用一句话概括：密码永远以加密形态存在。基于 AES-256 和 X25519 Sealed Box 的零知识加密——你的数据加密密钥 DEK 被主密码和恢复码分别包裹，服务器永远看不到明文。即使我们的服务器被攻破，攻击者拿到的也只是无法解密的密文。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来看竞品对比。1Password 强但闭源且贵；Bitwarden 开源但云优先、中文体验差；iCloud 钥匙串免费但仅限 Apple 生态、没有健康度检测。SafeVault 是唯一做到本地加密+开源审计+中文原生+健康度检测的产品。综合评分 92，远超竞品。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这是我们的核心壁垒：v1.0 就开源核心加密模块。加密、KDF、恢复码包裹逻辑全部开源，接受社区审计——这是竞品不敢做的。技术栈方面，我们用 UTS 原生插件把 Android 上 PBKDF2 60 万次迭代从纯 JS 的数秒降到了毫秒级。认证采用 X25519 Sealed Box 封装，真正的零知识。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商业模式很清晰：免费增值+订阅扩展。v1.0 全部核心功能永久免费，建立用户基数。v2.0 推出加密云备份、跨设备同步等进阶功能，月费 12 元。我们的目标是：6 个月 50 万下载，10 万月活，订阅转化率超过 5%。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路线图分四个阶段。v1.0 MVP 已经完成核心闭环；v1.1 将完善分类管理和回收站；v2.0 是商业化拐点，上线云同步和订阅付费；v2.x 走向生态扩展，浏览器插件和泄露监测。每一步都有明确的用户价值驱动。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最后，我想说的是：安全，应该是每个人的权利。SafeVault 让密码管理回归简单与安全。我们的代码在 GitHub 开源，欢迎审计。指纹一按，密码到手——谢谢大家！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73e20498f7a96a0d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174629991a5be2b4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>
                  <a:alpha val="55000"/>
                </a:srgbClr>
              </a:gs>
              <a:gs pos="60000">
                <a:srgbClr val="0F172A">
                  <a:alpha val="20000"/>
                </a:srgbClr>
              </a:gs>
              <a:gs pos="100000">
                <a:srgbClr val="0F172A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563EB">
                  <a:alpha val="12000"/>
                </a:srgbClr>
              </a:gs>
              <a:gs pos="100000">
                <a:srgbClr val="2563E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5181600" y="17145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266700" y="609600"/>
                </a:moveTo>
                <a:lnTo>
                  <a:pt x="127638" y="510269"/>
                </a:lnTo>
                <a:cubicBezTo>
                  <a:pt x="47539" y="453055"/>
                  <a:pt x="0" y="360680"/>
                  <a:pt x="0" y="262245"/>
                </a:cubicBezTo>
                <a:lnTo>
                  <a:pt x="0" y="114300"/>
                </a:lnTo>
                <a:lnTo>
                  <a:pt x="266700" y="0"/>
                </a:lnTo>
                <a:lnTo>
                  <a:pt x="533400" y="114300"/>
                </a:lnTo>
                <a:lnTo>
                  <a:pt x="533400" y="262245"/>
                </a:lnTo>
                <a:cubicBezTo>
                  <a:pt x="533400" y="360680"/>
                  <a:pt x="485863" y="453055"/>
                  <a:pt x="405761" y="510269"/>
                </a:cubicBezTo>
                <a:lnTo>
                  <a:pt x="266700" y="609600"/>
                </a:lnTo>
                <a:close/>
                <a:moveTo>
                  <a:pt x="426991" y="217441"/>
                </a:moveTo>
                <a:lnTo>
                  <a:pt x="373109" y="163559"/>
                </a:lnTo>
                <a:lnTo>
                  <a:pt x="228600" y="308069"/>
                </a:lnTo>
                <a:lnTo>
                  <a:pt x="160291" y="239759"/>
                </a:lnTo>
                <a:lnTo>
                  <a:pt x="106409" y="293641"/>
                </a:lnTo>
                <a:lnTo>
                  <a:pt x="228600" y="415831"/>
                </a:lnTo>
                <a:lnTo>
                  <a:pt x="426991" y="217441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250598" y="2369820"/>
            <a:ext cx="3690804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solidFill>
                  <a:srgbClr val="FFFFFF"/>
                </a:solidFill>
                <a:latin typeface="Georgia"/>
                <a:ea typeface="SimHei"/>
                <a:cs typeface="Georgia"/>
              </a:rPr>
              <a:t>SafeVault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25340" y="3265170"/>
            <a:ext cx="29413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FFFFFF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指纹一按，密码到手</a:t>
            </a:r>
          </a:p>
        </p:txBody>
      </p:sp>
      <p:sp>
        <p:nvSpPr>
          <p:cNvPr id="8" name="Rectangle 8"/>
          <p:cNvSpPr/>
          <p:nvPr/>
        </p:nvSpPr>
        <p:spPr>
          <a:xfrm>
            <a:off x="4953000" y="3810000"/>
            <a:ext cx="2286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EA5A4"/>
              </a:gs>
            </a:gsLst>
            <a:lin ang="2700000" scaled="1"/>
          </a:gra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701683" y="4140518"/>
            <a:ext cx="278863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本地优先 · 零知识加密 · 开源可信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04738" y="4537710"/>
            <a:ext cx="38252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59E0B">
                    <a:alphaMod val="80000"/>
                  </a:srgbClr>
                </a:solidFill>
                <a:latin typeface="Consolas"/>
                <a:ea typeface="Microsoft YaHei"/>
                <a:cs typeface="Consolas"/>
              </a:rPr>
              <a:t>2026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F172A">
              <a:alpha val="40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217462" y="6627495"/>
            <a:ext cx="17570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SAFEVAULT · ROADSHOW · 2026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0EA5A4"/>
              </a:gs>
            </a:gsLst>
            <a:lin ang="54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171474" y="394335"/>
            <a:ext cx="384905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111827"/>
                </a:solidFill>
                <a:latin typeface="Georgia"/>
                <a:ea typeface="SimHei"/>
                <a:cs typeface="Georgia"/>
              </a:rPr>
              <a:t>每个人都在被密码困扰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328136" y="902018"/>
            <a:ext cx="35357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超过 60% 的数据泄露源于弱密码或密码复用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62000" y="1524000"/>
            <a:ext cx="3429000" cy="4191000"/>
            <a:chOff x="762000" y="1524000"/>
            <a:chExt cx="3429000" cy="4191000"/>
          </a:xfrm>
        </p:grpSpPr>
        <p:sp>
          <p:nvSpPr>
            <p:cNvPr id="6" name="Rectangle 6"/>
            <p:cNvSpPr/>
            <p:nvPr/>
          </p:nvSpPr>
          <p:spPr>
            <a:xfrm>
              <a:off x="762000" y="1524000"/>
              <a:ext cx="3429000" cy="41910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762000" y="1524000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095500" y="1905000"/>
              <a:ext cx="762000" cy="762000"/>
            </a:xfrm>
            <a:prstGeom prst="ellipse">
              <a:avLst/>
            </a:prstGeom>
            <a:solidFill>
              <a:srgbClr val="DC2626">
                <a:alpha val="10000"/>
              </a:srgbClr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2209800" y="2019300"/>
              <a:ext cx="533400" cy="533400"/>
              <a:chOff x="2209800" y="2019300"/>
              <a:chExt cx="533400" cy="5334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2343150" y="215265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133350" y="0"/>
                    </a:moveTo>
                    <a:cubicBezTo>
                      <a:pt x="59703" y="0"/>
                      <a:pt x="0" y="59703"/>
                      <a:pt x="0" y="133350"/>
                    </a:cubicBezTo>
                    <a:cubicBezTo>
                      <a:pt x="0" y="206996"/>
                      <a:pt x="59703" y="266700"/>
                      <a:pt x="133350" y="266700"/>
                    </a:cubicBezTo>
                    <a:cubicBezTo>
                      <a:pt x="206996" y="266700"/>
                      <a:pt x="266700" y="206996"/>
                      <a:pt x="266700" y="133350"/>
                    </a:cubicBezTo>
                    <a:cubicBezTo>
                      <a:pt x="266700" y="59703"/>
                      <a:pt x="206996" y="0"/>
                      <a:pt x="133350" y="0"/>
                    </a:cubicBezTo>
                    <a:close/>
                    <a:moveTo>
                      <a:pt x="66675" y="133350"/>
                    </a:moveTo>
                    <a:cubicBezTo>
                      <a:pt x="66675" y="96526"/>
                      <a:pt x="96526" y="66675"/>
                      <a:pt x="133350" y="66675"/>
                    </a:cubicBezTo>
                    <a:cubicBezTo>
                      <a:pt x="170174" y="66675"/>
                      <a:pt x="200025" y="96526"/>
                      <a:pt x="200025" y="133350"/>
                    </a:cubicBezTo>
                    <a:cubicBezTo>
                      <a:pt x="200025" y="170174"/>
                      <a:pt x="170174" y="200025"/>
                      <a:pt x="133350" y="200025"/>
                    </a:cubicBezTo>
                    <a:cubicBezTo>
                      <a:pt x="96526" y="200025"/>
                      <a:pt x="66675" y="170174"/>
                      <a:pt x="66675" y="133350"/>
                    </a:cubicBezTo>
                    <a:close/>
                  </a:path>
                </a:pathLst>
              </a:custGeom>
              <a:solidFill>
                <a:srgbClr val="DC2626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209800" y="2019300"/>
                <a:ext cx="5334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533400">
                    <a:moveTo>
                      <a:pt x="266700" y="0"/>
                    </a:moveTo>
                    <a:cubicBezTo>
                      <a:pt x="119406" y="0"/>
                      <a:pt x="0" y="119406"/>
                      <a:pt x="0" y="266700"/>
                    </a:cubicBezTo>
                    <a:cubicBezTo>
                      <a:pt x="0" y="413995"/>
                      <a:pt x="119406" y="533400"/>
                      <a:pt x="266700" y="533400"/>
                    </a:cubicBezTo>
                    <a:cubicBezTo>
                      <a:pt x="413995" y="533400"/>
                      <a:pt x="533400" y="413995"/>
                      <a:pt x="533400" y="266700"/>
                    </a:cubicBezTo>
                    <a:cubicBezTo>
                      <a:pt x="533400" y="119406"/>
                      <a:pt x="413995" y="0"/>
                      <a:pt x="266700" y="0"/>
                    </a:cubicBezTo>
                    <a:close/>
                    <a:moveTo>
                      <a:pt x="66675" y="266700"/>
                    </a:moveTo>
                    <a:cubicBezTo>
                      <a:pt x="66675" y="156229"/>
                      <a:pt x="156229" y="66675"/>
                      <a:pt x="266700" y="66675"/>
                    </a:cubicBezTo>
                    <a:cubicBezTo>
                      <a:pt x="377170" y="66675"/>
                      <a:pt x="466725" y="156229"/>
                      <a:pt x="466725" y="266700"/>
                    </a:cubicBezTo>
                    <a:cubicBezTo>
                      <a:pt x="466725" y="377170"/>
                      <a:pt x="377170" y="466725"/>
                      <a:pt x="266700" y="466725"/>
                    </a:cubicBezTo>
                    <a:cubicBezTo>
                      <a:pt x="156229" y="466725"/>
                      <a:pt x="66675" y="377170"/>
                      <a:pt x="66675" y="266700"/>
                    </a:cubicBezTo>
                    <a:close/>
                  </a:path>
                </a:pathLst>
              </a:custGeom>
              <a:solidFill>
                <a:srgbClr val="DC2626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2008775" y="2821305"/>
              <a:ext cx="93545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11827"/>
                  </a:solidFill>
                  <a:latin typeface="Georgia"/>
                  <a:ea typeface="SimHei"/>
                  <a:cs typeface="Georgia"/>
                </a:rPr>
                <a:t>记不住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78232" y="3283268"/>
              <a:ext cx="19965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平均每人 80-100 个账号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59242" y="356901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弱密码和重复密码泛滥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14928" y="3802380"/>
              <a:ext cx="923144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DC2626"/>
                  </a:solidFill>
                  <a:latin typeface="Consolas"/>
                  <a:ea typeface="Microsoft YaHei"/>
                  <a:cs typeface="Consolas"/>
                </a:rPr>
                <a:t>80+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73104" y="4411028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人均管理账号数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381500" y="1524000"/>
            <a:ext cx="3429000" cy="4191000"/>
            <a:chOff x="4381500" y="1524000"/>
            <a:chExt cx="3429000" cy="4191000"/>
          </a:xfrm>
        </p:grpSpPr>
        <p:sp>
          <p:nvSpPr>
            <p:cNvPr id="18" name="Rectangle 18"/>
            <p:cNvSpPr/>
            <p:nvPr/>
          </p:nvSpPr>
          <p:spPr>
            <a:xfrm>
              <a:off x="4381500" y="1524000"/>
              <a:ext cx="3429000" cy="41910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19" name="Rectangle 19"/>
            <p:cNvSpPr/>
            <p:nvPr/>
          </p:nvSpPr>
          <p:spPr>
            <a:xfrm>
              <a:off x="4381500" y="1524000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5715000" y="1905000"/>
              <a:ext cx="762000" cy="762000"/>
            </a:xfrm>
            <a:prstGeom prst="ellipse">
              <a:avLst/>
            </a:prstGeom>
            <a:solidFill>
              <a:srgbClr val="F59E0B">
                <a:alpha val="10000"/>
              </a:srgbClr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5895975" y="2019300"/>
              <a:ext cx="400050" cy="533400"/>
            </a:xfrm>
            <a:custGeom>
              <a:avLst/>
              <a:gdLst/>
              <a:ahLst/>
              <a:cxnLst/>
              <a:rect l="l" t="t" r="r" b="b"/>
              <a:pathLst>
                <a:path w="400050" h="533400">
                  <a:moveTo>
                    <a:pt x="66675" y="200025"/>
                  </a:moveTo>
                  <a:lnTo>
                    <a:pt x="66675" y="133350"/>
                  </a:lnTo>
                  <a:cubicBezTo>
                    <a:pt x="66675" y="59703"/>
                    <a:pt x="126378" y="0"/>
                    <a:pt x="200025" y="0"/>
                  </a:cubicBezTo>
                  <a:cubicBezTo>
                    <a:pt x="273671" y="0"/>
                    <a:pt x="333375" y="59703"/>
                    <a:pt x="333375" y="133350"/>
                  </a:cubicBezTo>
                  <a:lnTo>
                    <a:pt x="333375" y="200025"/>
                  </a:lnTo>
                  <a:lnTo>
                    <a:pt x="400050" y="200025"/>
                  </a:lnTo>
                  <a:lnTo>
                    <a:pt x="400050" y="533400"/>
                  </a:lnTo>
                  <a:lnTo>
                    <a:pt x="0" y="533400"/>
                  </a:lnTo>
                  <a:lnTo>
                    <a:pt x="0" y="200025"/>
                  </a:lnTo>
                  <a:lnTo>
                    <a:pt x="66675" y="200025"/>
                  </a:lnTo>
                  <a:close/>
                  <a:moveTo>
                    <a:pt x="133350" y="133350"/>
                  </a:moveTo>
                  <a:cubicBezTo>
                    <a:pt x="133350" y="96526"/>
                    <a:pt x="163201" y="66675"/>
                    <a:pt x="200025" y="66675"/>
                  </a:cubicBezTo>
                  <a:cubicBezTo>
                    <a:pt x="236849" y="66675"/>
                    <a:pt x="266700" y="96526"/>
                    <a:pt x="266700" y="133350"/>
                  </a:cubicBezTo>
                  <a:lnTo>
                    <a:pt x="266700" y="200025"/>
                  </a:lnTo>
                  <a:lnTo>
                    <a:pt x="133350" y="200025"/>
                  </a:lnTo>
                  <a:lnTo>
                    <a:pt x="133350" y="133350"/>
                  </a:lnTo>
                  <a:close/>
                  <a:moveTo>
                    <a:pt x="166688" y="433388"/>
                  </a:moveTo>
                  <a:lnTo>
                    <a:pt x="166688" y="300038"/>
                  </a:lnTo>
                  <a:lnTo>
                    <a:pt x="233362" y="300038"/>
                  </a:lnTo>
                  <a:lnTo>
                    <a:pt x="233362" y="433388"/>
                  </a:lnTo>
                  <a:lnTo>
                    <a:pt x="166688" y="433388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628275" y="2821305"/>
              <a:ext cx="93545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11827"/>
                  </a:solidFill>
                  <a:latin typeface="Georgia"/>
                  <a:ea typeface="SimHei"/>
                  <a:cs typeface="Georgia"/>
                </a:rPr>
                <a:t>不安全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33737" y="3283268"/>
              <a:ext cx="19245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明文记在备忘录、Excel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58765" y="356901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设备丢失即全泄露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84022" y="3802380"/>
              <a:ext cx="1023957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59E0B"/>
                  </a:solidFill>
                  <a:latin typeface="Consolas"/>
                  <a:ea typeface="Microsoft YaHei"/>
                  <a:cs typeface="Consolas"/>
                </a:rPr>
                <a:t>60%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42560" y="4411028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泄露事件与弱密码直接相关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001000" y="1524000"/>
            <a:ext cx="3429000" cy="4191000"/>
            <a:chOff x="8001000" y="1524000"/>
            <a:chExt cx="3429000" cy="4191000"/>
          </a:xfrm>
        </p:grpSpPr>
        <p:sp>
          <p:nvSpPr>
            <p:cNvPr id="28" name="Rectangle 28"/>
            <p:cNvSpPr/>
            <p:nvPr/>
          </p:nvSpPr>
          <p:spPr>
            <a:xfrm>
              <a:off x="8001000" y="1524000"/>
              <a:ext cx="3429000" cy="41910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>
              <a:noFill/>
            </a:ln>
            <a:effectLst>
              <a:outerShdw blurRad="7620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29" name="Rectangle 29"/>
            <p:cNvSpPr/>
            <p:nvPr/>
          </p:nvSpPr>
          <p:spPr>
            <a:xfrm>
              <a:off x="8001000" y="1524000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0EA5A4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9334500" y="1905000"/>
              <a:ext cx="762000" cy="762000"/>
            </a:xfrm>
            <a:prstGeom prst="ellipse">
              <a:avLst/>
            </a:prstGeom>
            <a:solidFill>
              <a:srgbClr val="0EA5A4">
                <a:alpha val="10000"/>
              </a:srgbClr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9515475" y="2019300"/>
              <a:ext cx="400050" cy="533400"/>
              <a:chOff x="9515475" y="2019300"/>
              <a:chExt cx="400050" cy="5334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515475" y="2232660"/>
                <a:ext cx="400050" cy="153352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153352">
                    <a:moveTo>
                      <a:pt x="371283" y="17008"/>
                    </a:moveTo>
                    <a:cubicBezTo>
                      <a:pt x="380661" y="12318"/>
                      <a:pt x="390459" y="6661"/>
                      <a:pt x="400050" y="0"/>
                    </a:cubicBezTo>
                    <a:lnTo>
                      <a:pt x="400050" y="53340"/>
                    </a:lnTo>
                    <a:cubicBezTo>
                      <a:pt x="400050" y="108575"/>
                      <a:pt x="310495" y="153352"/>
                      <a:pt x="200025" y="153352"/>
                    </a:cubicBezTo>
                    <a:cubicBezTo>
                      <a:pt x="89554" y="153352"/>
                      <a:pt x="0" y="108575"/>
                      <a:pt x="0" y="53340"/>
                    </a:cubicBezTo>
                    <a:lnTo>
                      <a:pt x="0" y="0"/>
                    </a:lnTo>
                    <a:cubicBezTo>
                      <a:pt x="9592" y="6661"/>
                      <a:pt x="19388" y="12318"/>
                      <a:pt x="28768" y="17008"/>
                    </a:cubicBezTo>
                    <a:cubicBezTo>
                      <a:pt x="76042" y="40644"/>
                      <a:pt x="136683" y="53340"/>
                      <a:pt x="200025" y="53340"/>
                    </a:cubicBezTo>
                    <a:cubicBezTo>
                      <a:pt x="263367" y="53340"/>
                      <a:pt x="324007" y="40644"/>
                      <a:pt x="371283" y="17008"/>
                    </a:cubicBezTo>
                    <a:close/>
                  </a:path>
                </a:pathLst>
              </a:custGeom>
              <a:solidFill>
                <a:srgbClr val="0EA5A4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515475" y="2399348"/>
                <a:ext cx="400050" cy="153352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153352">
                    <a:moveTo>
                      <a:pt x="0" y="0"/>
                    </a:moveTo>
                    <a:lnTo>
                      <a:pt x="0" y="53340"/>
                    </a:lnTo>
                    <a:cubicBezTo>
                      <a:pt x="0" y="108577"/>
                      <a:pt x="89554" y="153352"/>
                      <a:pt x="200025" y="153352"/>
                    </a:cubicBezTo>
                    <a:cubicBezTo>
                      <a:pt x="310495" y="153352"/>
                      <a:pt x="400050" y="108577"/>
                      <a:pt x="400050" y="53340"/>
                    </a:cubicBezTo>
                    <a:lnTo>
                      <a:pt x="400050" y="0"/>
                    </a:lnTo>
                    <a:cubicBezTo>
                      <a:pt x="390459" y="6661"/>
                      <a:pt x="380661" y="12318"/>
                      <a:pt x="371283" y="17009"/>
                    </a:cubicBezTo>
                    <a:cubicBezTo>
                      <a:pt x="324007" y="40645"/>
                      <a:pt x="263367" y="53340"/>
                      <a:pt x="200025" y="53340"/>
                    </a:cubicBezTo>
                    <a:cubicBezTo>
                      <a:pt x="136683" y="53340"/>
                      <a:pt x="76042" y="40645"/>
                      <a:pt x="28768" y="17009"/>
                    </a:cubicBezTo>
                    <a:cubicBezTo>
                      <a:pt x="19388" y="12318"/>
                      <a:pt x="9592" y="6661"/>
                      <a:pt x="0" y="0"/>
                    </a:cubicBezTo>
                    <a:close/>
                  </a:path>
                </a:pathLst>
              </a:custGeom>
              <a:solidFill>
                <a:srgbClr val="0EA5A4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515475" y="2019300"/>
                <a:ext cx="4000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200025">
                    <a:moveTo>
                      <a:pt x="200025" y="0"/>
                    </a:moveTo>
                    <a:cubicBezTo>
                      <a:pt x="310495" y="0"/>
                      <a:pt x="400050" y="44777"/>
                      <a:pt x="400050" y="100012"/>
                    </a:cubicBezTo>
                    <a:cubicBezTo>
                      <a:pt x="400050" y="155248"/>
                      <a:pt x="310495" y="200025"/>
                      <a:pt x="200025" y="200025"/>
                    </a:cubicBezTo>
                    <a:cubicBezTo>
                      <a:pt x="89554" y="200025"/>
                      <a:pt x="0" y="155248"/>
                      <a:pt x="0" y="100012"/>
                    </a:cubicBezTo>
                    <a:cubicBezTo>
                      <a:pt x="0" y="44777"/>
                      <a:pt x="89554" y="0"/>
                      <a:pt x="200025" y="0"/>
                    </a:cubicBezTo>
                    <a:close/>
                  </a:path>
                </a:pathLst>
              </a:custGeom>
              <a:solidFill>
                <a:srgbClr val="0EA5A4"/>
              </a:solidFill>
              <a:ln>
                <a:noFill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9247775" y="2821305"/>
              <a:ext cx="93545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11827"/>
                  </a:solidFill>
                  <a:latin typeface="Georgia"/>
                  <a:ea typeface="SimHei"/>
                  <a:cs typeface="Georgia"/>
                </a:rPr>
                <a:t>管理乱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68276" y="328326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账号分散找不到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248299" y="3569018"/>
              <a:ext cx="9344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找回成本高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27912" y="3802380"/>
              <a:ext cx="117517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0EA5A4"/>
                  </a:solidFill>
                  <a:latin typeface="Arial"/>
                  <a:ea typeface="Microsoft YaHei"/>
                  <a:cs typeface="Arial"/>
                </a:rPr>
                <a:t>3min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42095" y="4411028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平均找回密码耗时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667554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7" grpId="0"/>
      <p:bldP spid="4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0EA5A4"/>
              </a:gs>
            </a:gsLst>
            <a:lin ang="5400000" scaled="1"/>
          </a:gra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43000"/>
            <a:ext cx="2667000" cy="4953000"/>
          </a:xfrm>
          <a:prstGeom prst="roundRect">
            <a:avLst>
              <a:gd name="adj" fmla="val 7142"/>
            </a:avLst>
          </a:prstGeom>
        </p:spPr>
      </p:pic>
      <p:sp>
        <p:nvSpPr>
          <p:cNvPr id="5" name="Rectangle 5"/>
          <p:cNvSpPr/>
          <p:nvPr/>
        </p:nvSpPr>
        <p:spPr>
          <a:xfrm>
            <a:off x="571500" y="1143000"/>
            <a:ext cx="2667000" cy="4953000"/>
          </a:xfrm>
          <a:prstGeom prst="roundRect">
            <a:avLst>
              <a:gd name="adj" fmla="val 7143"/>
            </a:avLst>
          </a:prstGeom>
          <a:noFill/>
          <a:ln w="19050">
            <a:solidFill>
              <a:srgbClr val="E5E7EB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3987165" y="1220152"/>
            <a:ext cx="15042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563EB"/>
                </a:solidFill>
                <a:latin typeface="Georgia"/>
                <a:ea typeface="SimHei"/>
                <a:cs typeface="Georgia"/>
              </a:rPr>
              <a:t>PRODUCT POSITIONING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2400" y="1533525"/>
            <a:ext cx="391968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11827"/>
                </a:solidFill>
                <a:latin typeface="Georgia"/>
                <a:ea typeface="SimHei"/>
                <a:cs typeface="Georgia"/>
              </a:rPr>
              <a:t>本地优先 · 生物识别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62400" y="2009775"/>
            <a:ext cx="217646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11827"/>
                </a:solidFill>
                <a:latin typeface="Georgia"/>
                <a:ea typeface="SimHei"/>
                <a:cs typeface="Georgia"/>
              </a:rPr>
              <a:t>零学习成本</a:t>
            </a:r>
          </a:p>
        </p:txBody>
      </p:sp>
      <p:sp>
        <p:nvSpPr>
          <p:cNvPr id="9" name="Rectangle 9"/>
          <p:cNvSpPr/>
          <p:nvPr/>
        </p:nvSpPr>
        <p:spPr>
          <a:xfrm>
            <a:off x="4000500" y="2667000"/>
            <a:ext cx="5334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EA5A4"/>
              </a:gs>
            </a:gsLst>
            <a:lin ang="5400000" scaled="1"/>
          </a:gra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979545" y="2917508"/>
            <a:ext cx="490451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密码永远以加密形态存在，只有"你本人"才能解开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4019550" y="3552825"/>
            <a:ext cx="3240405" cy="514350"/>
            <a:chOff x="4019550" y="3552825"/>
            <a:chExt cx="3240405" cy="514350"/>
          </a:xfrm>
        </p:grpSpPr>
        <p:sp>
          <p:nvSpPr>
            <p:cNvPr id="11" name="Ellipse 11"/>
            <p:cNvSpPr/>
            <p:nvPr/>
          </p:nvSpPr>
          <p:spPr>
            <a:xfrm>
              <a:off x="4019550" y="3590925"/>
              <a:ext cx="342900" cy="342900"/>
            </a:xfrm>
            <a:prstGeom prst="ellipse">
              <a:avLst/>
            </a:prstGeom>
            <a:solidFill>
              <a:srgbClr val="2563EB">
                <a:alpha val="10000"/>
              </a:srgbClr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4065984" y="3619500"/>
              <a:ext cx="250031" cy="285750"/>
            </a:xfrm>
            <a:custGeom>
              <a:avLst/>
              <a:gdLst/>
              <a:ahLst/>
              <a:cxnLst/>
              <a:rect l="l" t="t" r="r" b="b"/>
              <a:pathLst>
                <a:path w="250031" h="285750">
                  <a:moveTo>
                    <a:pt x="59831" y="239189"/>
                  </a:moveTo>
                  <a:lnTo>
                    <a:pt x="125016" y="285750"/>
                  </a:lnTo>
                  <a:lnTo>
                    <a:pt x="190201" y="239189"/>
                  </a:lnTo>
                  <a:cubicBezTo>
                    <a:pt x="227748" y="212369"/>
                    <a:pt x="250031" y="169069"/>
                    <a:pt x="250031" y="122927"/>
                  </a:cubicBezTo>
                  <a:lnTo>
                    <a:pt x="250031" y="53578"/>
                  </a:lnTo>
                  <a:lnTo>
                    <a:pt x="125016" y="0"/>
                  </a:lnTo>
                  <a:lnTo>
                    <a:pt x="0" y="53578"/>
                  </a:lnTo>
                  <a:lnTo>
                    <a:pt x="0" y="122927"/>
                  </a:lnTo>
                  <a:cubicBezTo>
                    <a:pt x="0" y="169069"/>
                    <a:pt x="22284" y="212369"/>
                    <a:pt x="59831" y="239189"/>
                  </a:cubic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05325" y="3552825"/>
              <a:ext cx="25584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827"/>
                  </a:solidFill>
                  <a:latin typeface="Georgia"/>
                  <a:ea typeface="SimHei"/>
                  <a:cs typeface="Georgia"/>
                </a:rPr>
                <a:t>本地加密存储，默认不联网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09135" y="3823335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数据始终在你的设备上，隐私完全可控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019550" y="4314825"/>
            <a:ext cx="2528316" cy="514350"/>
            <a:chOff x="4019550" y="4314825"/>
            <a:chExt cx="2528316" cy="514350"/>
          </a:xfrm>
        </p:grpSpPr>
        <p:sp>
          <p:nvSpPr>
            <p:cNvPr id="16" name="Ellipse 16"/>
            <p:cNvSpPr/>
            <p:nvPr/>
          </p:nvSpPr>
          <p:spPr>
            <a:xfrm>
              <a:off x="4019550" y="4352925"/>
              <a:ext cx="342900" cy="342900"/>
            </a:xfrm>
            <a:prstGeom prst="ellipse">
              <a:avLst/>
            </a:prstGeom>
            <a:solidFill>
              <a:srgbClr val="0EA5A4">
                <a:alpha val="10000"/>
              </a:srgbClr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048125" y="438150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85750" y="98227"/>
                  </a:moveTo>
                  <a:cubicBezTo>
                    <a:pt x="285750" y="152476"/>
                    <a:pt x="241773" y="196453"/>
                    <a:pt x="187523" y="196453"/>
                  </a:cubicBezTo>
                  <a:lnTo>
                    <a:pt x="125016" y="196453"/>
                  </a:lnTo>
                  <a:lnTo>
                    <a:pt x="125016" y="232172"/>
                  </a:lnTo>
                  <a:lnTo>
                    <a:pt x="89297" y="232172"/>
                  </a:lnTo>
                  <a:lnTo>
                    <a:pt x="89297" y="267891"/>
                  </a:lnTo>
                  <a:lnTo>
                    <a:pt x="71438" y="285750"/>
                  </a:lnTo>
                  <a:lnTo>
                    <a:pt x="0" y="285750"/>
                  </a:lnTo>
                  <a:lnTo>
                    <a:pt x="0" y="214312"/>
                  </a:lnTo>
                  <a:lnTo>
                    <a:pt x="92217" y="122095"/>
                  </a:lnTo>
                  <a:cubicBezTo>
                    <a:pt x="90310" y="114454"/>
                    <a:pt x="89297" y="106459"/>
                    <a:pt x="89297" y="98227"/>
                  </a:cubicBezTo>
                  <a:cubicBezTo>
                    <a:pt x="89297" y="43977"/>
                    <a:pt x="133274" y="0"/>
                    <a:pt x="187523" y="0"/>
                  </a:cubicBezTo>
                  <a:cubicBezTo>
                    <a:pt x="241773" y="0"/>
                    <a:pt x="285750" y="43977"/>
                    <a:pt x="285750" y="98227"/>
                  </a:cubicBezTo>
                  <a:close/>
                  <a:moveTo>
                    <a:pt x="232172" y="71438"/>
                  </a:moveTo>
                  <a:cubicBezTo>
                    <a:pt x="232172" y="81301"/>
                    <a:pt x="224176" y="89297"/>
                    <a:pt x="214312" y="89297"/>
                  </a:cubicBezTo>
                  <a:cubicBezTo>
                    <a:pt x="204449" y="89297"/>
                    <a:pt x="196453" y="81301"/>
                    <a:pt x="196453" y="71438"/>
                  </a:cubicBezTo>
                  <a:cubicBezTo>
                    <a:pt x="196453" y="61574"/>
                    <a:pt x="204449" y="53578"/>
                    <a:pt x="214312" y="53578"/>
                  </a:cubicBezTo>
                  <a:cubicBezTo>
                    <a:pt x="224176" y="53578"/>
                    <a:pt x="232172" y="61574"/>
                    <a:pt x="232172" y="71438"/>
                  </a:cubicBezTo>
                  <a:close/>
                </a:path>
              </a:pathLst>
            </a:custGeom>
            <a:solidFill>
              <a:srgbClr val="0EA5A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505325" y="4314825"/>
              <a:ext cx="1718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827"/>
                  </a:solidFill>
                  <a:latin typeface="Georgia"/>
                  <a:ea typeface="SimHei"/>
                  <a:cs typeface="Georgia"/>
                </a:rPr>
                <a:t>生物识别一键解锁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09135" y="4585335"/>
              <a:ext cx="20387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指纹/面容秒开，零学习成本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019550" y="5076825"/>
            <a:ext cx="2776347" cy="514350"/>
            <a:chOff x="4019550" y="5076825"/>
            <a:chExt cx="2776347" cy="514350"/>
          </a:xfrm>
        </p:grpSpPr>
        <p:sp>
          <p:nvSpPr>
            <p:cNvPr id="21" name="Ellipse 21"/>
            <p:cNvSpPr/>
            <p:nvPr/>
          </p:nvSpPr>
          <p:spPr>
            <a:xfrm>
              <a:off x="4019550" y="5114925"/>
              <a:ext cx="342900" cy="342900"/>
            </a:xfrm>
            <a:prstGeom prst="ellipse">
              <a:avLst/>
            </a:prstGeom>
            <a:solidFill>
              <a:srgbClr val="F59E0B">
                <a:alpha val="10000"/>
              </a:srgbClr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4083844" y="5143500"/>
              <a:ext cx="214312" cy="285750"/>
            </a:xfrm>
            <a:custGeom>
              <a:avLst/>
              <a:gdLst/>
              <a:ahLst/>
              <a:cxnLst/>
              <a:rect l="l" t="t" r="r" b="b"/>
              <a:pathLst>
                <a:path w="214312" h="285750">
                  <a:moveTo>
                    <a:pt x="125016" y="125016"/>
                  </a:moveTo>
                  <a:lnTo>
                    <a:pt x="142875" y="0"/>
                  </a:lnTo>
                  <a:lnTo>
                    <a:pt x="107156" y="0"/>
                  </a:lnTo>
                  <a:lnTo>
                    <a:pt x="0" y="125016"/>
                  </a:lnTo>
                  <a:lnTo>
                    <a:pt x="0" y="160734"/>
                  </a:lnTo>
                  <a:lnTo>
                    <a:pt x="89297" y="160734"/>
                  </a:lnTo>
                  <a:lnTo>
                    <a:pt x="71438" y="285750"/>
                  </a:lnTo>
                  <a:lnTo>
                    <a:pt x="107156" y="285750"/>
                  </a:lnTo>
                  <a:lnTo>
                    <a:pt x="214312" y="160734"/>
                  </a:lnTo>
                  <a:lnTo>
                    <a:pt x="214312" y="125016"/>
                  </a:lnTo>
                  <a:lnTo>
                    <a:pt x="125016" y="125016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05325" y="5076825"/>
              <a:ext cx="215936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827"/>
                  </a:solidFill>
                  <a:latin typeface="Georgia"/>
                  <a:ea typeface="SimHei"/>
                  <a:cs typeface="Georgia"/>
                </a:rPr>
                <a:t>核心操作 ≤3 步、≤3 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09135" y="5347335"/>
              <a:ext cx="22867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解锁→找到密码→复制，一气呵成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4000500" y="6000750"/>
            <a:ext cx="2095500" cy="419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180499" y="6121718"/>
            <a:ext cx="1735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Georgia"/>
                <a:ea typeface="SimHei"/>
                <a:cs typeface="Georgia"/>
              </a:rPr>
              <a:t>指纹一按，密码到手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667554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0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0EA5A4"/>
              </a:gs>
            </a:gsLst>
            <a:lin ang="54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927568" y="327660"/>
            <a:ext cx="23368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111827"/>
                </a:solidFill>
                <a:latin typeface="Georgia"/>
                <a:ea typeface="SimHei"/>
                <a:cs typeface="Georgia"/>
              </a:rPr>
              <a:t>四大核心能力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320540" y="775335"/>
            <a:ext cx="35509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从安全认证到健康检测，覆盖密码管理全生命周期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238250"/>
            <a:ext cx="5334000" cy="2286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>
            <a:noFill/>
          </a:ln>
          <a:effectLst>
            <a:outerShdw blurRad="76200" dist="28575" dir="5400000" algn="ctr" rotWithShape="0">
              <a:srgbClr val="0F172A">
                <a:alpha val="6000"/>
              </a:srgbClr>
            </a:outerShdw>
          </a:effectLst>
        </p:spPr>
      </p:sp>
      <p:sp>
        <p:nvSpPr>
          <p:cNvPr id="7" name="Rectangle 7"/>
          <p:cNvSpPr/>
          <p:nvPr/>
        </p:nvSpPr>
        <p:spPr>
          <a:xfrm>
            <a:off x="571500" y="1238250"/>
            <a:ext cx="53340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838200" y="1600200"/>
            <a:ext cx="609600" cy="609600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942975" y="16764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00025" y="457200"/>
                </a:moveTo>
                <a:lnTo>
                  <a:pt x="95729" y="382702"/>
                </a:lnTo>
                <a:cubicBezTo>
                  <a:pt x="35654" y="339791"/>
                  <a:pt x="0" y="270510"/>
                  <a:pt x="0" y="196683"/>
                </a:cubicBezTo>
                <a:lnTo>
                  <a:pt x="0" y="85725"/>
                </a:lnTo>
                <a:lnTo>
                  <a:pt x="200025" y="0"/>
                </a:lnTo>
                <a:lnTo>
                  <a:pt x="400050" y="85725"/>
                </a:lnTo>
                <a:lnTo>
                  <a:pt x="400050" y="196683"/>
                </a:lnTo>
                <a:cubicBezTo>
                  <a:pt x="400050" y="270510"/>
                  <a:pt x="364397" y="339791"/>
                  <a:pt x="304321" y="382702"/>
                </a:cubicBezTo>
                <a:lnTo>
                  <a:pt x="200025" y="457200"/>
                </a:lnTo>
                <a:close/>
                <a:moveTo>
                  <a:pt x="320243" y="163081"/>
                </a:moveTo>
                <a:lnTo>
                  <a:pt x="279832" y="122669"/>
                </a:lnTo>
                <a:lnTo>
                  <a:pt x="171450" y="231051"/>
                </a:lnTo>
                <a:lnTo>
                  <a:pt x="120218" y="179819"/>
                </a:lnTo>
                <a:lnTo>
                  <a:pt x="79807" y="220231"/>
                </a:lnTo>
                <a:lnTo>
                  <a:pt x="171450" y="311873"/>
                </a:lnTo>
                <a:lnTo>
                  <a:pt x="320243" y="163081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596390" y="171069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11827"/>
                </a:solidFill>
                <a:latin typeface="Georgia"/>
                <a:ea typeface="SimHei"/>
                <a:cs typeface="Georgia"/>
              </a:rPr>
              <a:t>安全认证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04010" y="2061210"/>
            <a:ext cx="26388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主密码 + 生物识别 + 恢复码三重保障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04010" y="2299335"/>
            <a:ext cx="25908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自动锁定防泄露，连续失败递增锁定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619250" y="2667000"/>
            <a:ext cx="762000" cy="266700"/>
          </a:xfrm>
          <a:prstGeom prst="roundRect">
            <a:avLst>
              <a:gd name="adj" fmla="val 50000"/>
            </a:avLst>
          </a:prstGeom>
          <a:solidFill>
            <a:srgbClr val="16A34A">
              <a:alpha val="10000"/>
            </a:srgbClr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755788" y="2742724"/>
            <a:ext cx="4889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P0 核心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476500" y="2667000"/>
            <a:ext cx="762000" cy="266700"/>
          </a:xfrm>
          <a:prstGeom prst="roundRect">
            <a:avLst>
              <a:gd name="adj" fmla="val 50000"/>
            </a:avLst>
          </a:prstGeom>
          <a:solidFill>
            <a:srgbClr val="2563EB">
              <a:alpha val="10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2640342" y="2742724"/>
            <a:ext cx="4343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零知识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096000" y="1238250"/>
            <a:ext cx="5334000" cy="2286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>
            <a:noFill/>
          </a:ln>
          <a:effectLst>
            <a:outerShdw blurRad="76200" dist="28575" dir="5400000" algn="ctr" rotWithShape="0">
              <a:srgbClr val="0F172A">
                <a:alpha val="6000"/>
              </a:srgbClr>
            </a:outerShdw>
          </a:effectLst>
        </p:spPr>
      </p:sp>
      <p:sp>
        <p:nvSpPr>
          <p:cNvPr id="18" name="Rectangle 18"/>
          <p:cNvSpPr/>
          <p:nvPr/>
        </p:nvSpPr>
        <p:spPr>
          <a:xfrm>
            <a:off x="6096000" y="1238250"/>
            <a:ext cx="5334000" cy="47625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6362700" y="1600200"/>
            <a:ext cx="609600" cy="609600"/>
          </a:xfrm>
          <a:prstGeom prst="ellipse">
            <a:avLst/>
          </a:prstGeom>
          <a:solidFill>
            <a:srgbClr val="0EA5A4">
              <a:alpha val="10000"/>
            </a:srgbClr>
          </a:solidFill>
          <a:ln>
            <a:noFill/>
          </a:ln>
        </p:spPr>
      </p:sp>
      <p:grpSp>
        <p:nvGrpSpPr>
          <p:cNvPr id="22" name="Group 22"/>
          <p:cNvGrpSpPr/>
          <p:nvPr/>
        </p:nvGrpSpPr>
        <p:grpSpPr>
          <a:xfrm>
            <a:off x="6438900" y="1676400"/>
            <a:ext cx="457200" cy="457200"/>
            <a:chOff x="6438900" y="1676400"/>
            <a:chExt cx="457200" cy="457200"/>
          </a:xfrm>
        </p:grpSpPr>
        <p:sp>
          <p:nvSpPr>
            <p:cNvPr id="20" name="Freeform 20"/>
            <p:cNvSpPr/>
            <p:nvPr/>
          </p:nvSpPr>
          <p:spPr>
            <a:xfrm>
              <a:off x="6438900" y="167640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0"/>
                  </a:moveTo>
                  <a:lnTo>
                    <a:pt x="285750" y="0"/>
                  </a:lnTo>
                  <a:lnTo>
                    <a:pt x="285750" y="114300"/>
                  </a:lnTo>
                  <a:lnTo>
                    <a:pt x="114300" y="114300"/>
                  </a:lnTo>
                  <a:lnTo>
                    <a:pt x="1143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A5A4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6610350" y="184785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8575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285750" y="285750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0EA5A4"/>
            </a:solidFill>
            <a:ln>
              <a:noFill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7120890" y="1710690"/>
            <a:ext cx="80181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11827"/>
                </a:solidFill>
                <a:latin typeface="Georgia"/>
                <a:ea typeface="SimHei"/>
                <a:cs typeface="Georgia"/>
              </a:rPr>
              <a:t>密码库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128510" y="2061210"/>
            <a:ext cx="24707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默认密文显示，一键复制 60s 自清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128510" y="2299335"/>
            <a:ext cx="2430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分类搜索毫秒响应，脱敏展示账号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143750" y="2667000"/>
            <a:ext cx="762000" cy="266700"/>
          </a:xfrm>
          <a:prstGeom prst="roundRect">
            <a:avLst>
              <a:gd name="adj" fmla="val 50000"/>
            </a:avLst>
          </a:prstGeom>
          <a:solidFill>
            <a:srgbClr val="16A34A">
              <a:alpha val="10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280288" y="2742724"/>
            <a:ext cx="4889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P0 核心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001000" y="2667000"/>
            <a:ext cx="762000" cy="266700"/>
          </a:xfrm>
          <a:prstGeom prst="roundRect">
            <a:avLst>
              <a:gd name="adj" fmla="val 50000"/>
            </a:avLst>
          </a:prstGeom>
          <a:solidFill>
            <a:srgbClr val="F59E0B">
              <a:alpha val="10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127300" y="2742724"/>
            <a:ext cx="5094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3秒取用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3714750"/>
            <a:ext cx="5334000" cy="2286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>
            <a:noFill/>
          </a:ln>
          <a:effectLst>
            <a:outerShdw blurRad="76200" dist="28575" dir="5400000" algn="ctr" rotWithShape="0">
              <a:srgbClr val="0F172A">
                <a:alpha val="6000"/>
              </a:srgbClr>
            </a:outerShdw>
          </a:effectLst>
        </p:spPr>
      </p:sp>
      <p:sp>
        <p:nvSpPr>
          <p:cNvPr id="31" name="Rectangle 31"/>
          <p:cNvSpPr/>
          <p:nvPr/>
        </p:nvSpPr>
        <p:spPr>
          <a:xfrm>
            <a:off x="571500" y="3714750"/>
            <a:ext cx="5334000" cy="4762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32" name="Ellipse 32"/>
          <p:cNvSpPr/>
          <p:nvPr/>
        </p:nvSpPr>
        <p:spPr>
          <a:xfrm>
            <a:off x="838200" y="4076700"/>
            <a:ext cx="609600" cy="609600"/>
          </a:xfrm>
          <a:prstGeom prst="ellipse">
            <a:avLst/>
          </a:prstGeom>
          <a:solidFill>
            <a:srgbClr val="F59E0B">
              <a:alpha val="10000"/>
            </a:srgbClr>
          </a:solidFill>
          <a:ln>
            <a:noFill/>
          </a:ln>
        </p:spPr>
      </p:sp>
      <p:sp>
        <p:nvSpPr>
          <p:cNvPr id="33" name="Freeform 33"/>
          <p:cNvSpPr/>
          <p:nvPr/>
        </p:nvSpPr>
        <p:spPr>
          <a:xfrm>
            <a:off x="971550" y="41529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00025" y="200025"/>
                </a:moveTo>
                <a:lnTo>
                  <a:pt x="228600" y="0"/>
                </a:lnTo>
                <a:lnTo>
                  <a:pt x="171450" y="0"/>
                </a:lnTo>
                <a:lnTo>
                  <a:pt x="0" y="200025"/>
                </a:lnTo>
                <a:lnTo>
                  <a:pt x="0" y="257175"/>
                </a:lnTo>
                <a:lnTo>
                  <a:pt x="142875" y="257175"/>
                </a:lnTo>
                <a:lnTo>
                  <a:pt x="114300" y="457200"/>
                </a:lnTo>
                <a:lnTo>
                  <a:pt x="171450" y="457200"/>
                </a:lnTo>
                <a:lnTo>
                  <a:pt x="342900" y="257175"/>
                </a:lnTo>
                <a:lnTo>
                  <a:pt x="342900" y="200025"/>
                </a:lnTo>
                <a:lnTo>
                  <a:pt x="200025" y="200025"/>
                </a:lnTo>
                <a:close/>
              </a:path>
            </a:pathLst>
          </a:custGeom>
          <a:solidFill>
            <a:srgbClr val="F59E0B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596390" y="4187190"/>
            <a:ext cx="1557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11827"/>
                </a:solidFill>
                <a:latin typeface="Georgia"/>
                <a:ea typeface="SimHei"/>
                <a:cs typeface="Georgia"/>
              </a:rPr>
              <a:t>强密码生成器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604010" y="4537710"/>
            <a:ext cx="27428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16 位默认强密码，可自定义长度/字符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04010" y="4775835"/>
            <a:ext cx="2430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排除易混淆字符，实时强度条反馈</a:t>
            </a:r>
          </a:p>
        </p:txBody>
      </p:sp>
      <p:sp>
        <p:nvSpPr>
          <p:cNvPr id="37" name="Rectangle 37"/>
          <p:cNvSpPr/>
          <p:nvPr/>
        </p:nvSpPr>
        <p:spPr>
          <a:xfrm>
            <a:off x="1619250" y="5143500"/>
            <a:ext cx="762000" cy="266700"/>
          </a:xfrm>
          <a:prstGeom prst="roundRect">
            <a:avLst>
              <a:gd name="adj" fmla="val 50000"/>
            </a:avLst>
          </a:prstGeom>
          <a:solidFill>
            <a:srgbClr val="16A34A">
              <a:alpha val="10000"/>
            </a:srgbClr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755788" y="5219224"/>
            <a:ext cx="4889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P0 核心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096000" y="3714750"/>
            <a:ext cx="5334000" cy="2286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>
            <a:noFill/>
          </a:ln>
          <a:effectLst>
            <a:outerShdw blurRad="76200" dist="28575" dir="5400000" algn="ctr" rotWithShape="0">
              <a:srgbClr val="0F172A">
                <a:alpha val="6000"/>
              </a:srgbClr>
            </a:outerShdw>
          </a:effectLst>
        </p:spPr>
      </p:sp>
      <p:sp>
        <p:nvSpPr>
          <p:cNvPr id="40" name="Rectangle 40"/>
          <p:cNvSpPr/>
          <p:nvPr/>
        </p:nvSpPr>
        <p:spPr>
          <a:xfrm>
            <a:off x="6096000" y="3714750"/>
            <a:ext cx="5334000" cy="47625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41" name="Ellipse 41"/>
          <p:cNvSpPr/>
          <p:nvPr/>
        </p:nvSpPr>
        <p:spPr>
          <a:xfrm>
            <a:off x="6362700" y="4076700"/>
            <a:ext cx="609600" cy="609600"/>
          </a:xfrm>
          <a:prstGeom prst="ellipse">
            <a:avLst/>
          </a:prstGeom>
          <a:solidFill>
            <a:srgbClr val="DC2626">
              <a:alpha val="10000"/>
            </a:srgbClr>
          </a:solidFill>
          <a:ln>
            <a:noFill/>
          </a:ln>
        </p:spPr>
      </p:sp>
      <p:grpSp>
        <p:nvGrpSpPr>
          <p:cNvPr id="45" name="Group 45"/>
          <p:cNvGrpSpPr/>
          <p:nvPr/>
        </p:nvGrpSpPr>
        <p:grpSpPr>
          <a:xfrm>
            <a:off x="6438900" y="4181475"/>
            <a:ext cx="457200" cy="400050"/>
            <a:chOff x="6438900" y="4181475"/>
            <a:chExt cx="457200" cy="400050"/>
          </a:xfrm>
        </p:grpSpPr>
        <p:sp>
          <p:nvSpPr>
            <p:cNvPr id="42" name="Freeform 42"/>
            <p:cNvSpPr/>
            <p:nvPr/>
          </p:nvSpPr>
          <p:spPr>
            <a:xfrm>
              <a:off x="6781800" y="4181475"/>
              <a:ext cx="114300" cy="400050"/>
            </a:xfrm>
            <a:custGeom>
              <a:avLst/>
              <a:gdLst/>
              <a:ahLst/>
              <a:cxnLst/>
              <a:rect l="l" t="t" r="r" b="b"/>
              <a:pathLst>
                <a:path w="114300" h="400050">
                  <a:moveTo>
                    <a:pt x="114300" y="0"/>
                  </a:moveTo>
                  <a:lnTo>
                    <a:pt x="0" y="0"/>
                  </a:lnTo>
                  <a:lnTo>
                    <a:pt x="0" y="400050"/>
                  </a:lnTo>
                  <a:lnTo>
                    <a:pt x="114300" y="40005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6610350" y="4295775"/>
              <a:ext cx="114300" cy="285750"/>
            </a:xfrm>
            <a:custGeom>
              <a:avLst/>
              <a:gdLst/>
              <a:ahLst/>
              <a:cxnLst/>
              <a:rect l="l" t="t" r="r" b="b"/>
              <a:pathLst>
                <a:path w="114300" h="285750">
                  <a:moveTo>
                    <a:pt x="0" y="0"/>
                  </a:moveTo>
                  <a:lnTo>
                    <a:pt x="114300" y="0"/>
                  </a:lnTo>
                  <a:lnTo>
                    <a:pt x="1143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6438900" y="4410075"/>
              <a:ext cx="114300" cy="171450"/>
            </a:xfrm>
            <a:custGeom>
              <a:avLst/>
              <a:gdLst/>
              <a:ahLst/>
              <a:cxnLst/>
              <a:rect l="l" t="t" r="r" b="b"/>
              <a:pathLst>
                <a:path w="114300" h="171450">
                  <a:moveTo>
                    <a:pt x="0" y="0"/>
                  </a:moveTo>
                  <a:lnTo>
                    <a:pt x="114300" y="0"/>
                  </a:lnTo>
                  <a:lnTo>
                    <a:pt x="114300" y="171450"/>
                  </a:lnTo>
                  <a:lnTo>
                    <a:pt x="0" y="171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</p:grpSp>
      <p:sp>
        <p:nvSpPr>
          <p:cNvPr id="46" name="TextBox 46"/>
          <p:cNvSpPr txBox="1"/>
          <p:nvPr/>
        </p:nvSpPr>
        <p:spPr>
          <a:xfrm>
            <a:off x="7120890" y="418719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11827"/>
                </a:solidFill>
                <a:latin typeface="Georgia"/>
                <a:ea typeface="SimHei"/>
                <a:cs typeface="Georgia"/>
              </a:rPr>
              <a:t>健康度检测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128510" y="4537710"/>
            <a:ext cx="23587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本地检测弱/重复密码，实时评分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128510" y="4775835"/>
            <a:ext cx="19507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一键修复，健康分实时更新</a:t>
            </a:r>
          </a:p>
        </p:txBody>
      </p:sp>
      <p:sp>
        <p:nvSpPr>
          <p:cNvPr id="49" name="Rectangle 49"/>
          <p:cNvSpPr/>
          <p:nvPr/>
        </p:nvSpPr>
        <p:spPr>
          <a:xfrm>
            <a:off x="7143750" y="5143500"/>
            <a:ext cx="762000" cy="266700"/>
          </a:xfrm>
          <a:prstGeom prst="roundRect">
            <a:avLst>
              <a:gd name="adj" fmla="val 50000"/>
            </a:avLst>
          </a:prstGeom>
          <a:solidFill>
            <a:srgbClr val="16A34A">
              <a:alpha val="10000"/>
            </a:srgbClr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7280288" y="5219224"/>
            <a:ext cx="4889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P1 亮点</a:t>
            </a:r>
          </a:p>
        </p:txBody>
      </p:sp>
      <p:sp>
        <p:nvSpPr>
          <p:cNvPr id="51" name="Rectangle 51"/>
          <p:cNvSpPr/>
          <p:nvPr/>
        </p:nvSpPr>
        <p:spPr>
          <a:xfrm>
            <a:off x="8001000" y="5143500"/>
            <a:ext cx="914400" cy="266700"/>
          </a:xfrm>
          <a:prstGeom prst="roundRect">
            <a:avLst>
              <a:gd name="adj" fmla="val 50000"/>
            </a:avLst>
          </a:prstGeom>
          <a:solidFill>
            <a:srgbClr val="DC2626">
              <a:alpha val="10000"/>
            </a:srgbClr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8104525" y="5219224"/>
            <a:ext cx="7073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差异化功能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667554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0EA5A4"/>
              </a:gs>
            </a:gsLst>
            <a:lin ang="54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982450" y="280035"/>
            <a:ext cx="422710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111827"/>
                </a:solidFill>
                <a:latin typeface="Georgia"/>
                <a:ea typeface="SimHei"/>
                <a:cs typeface="Georgia"/>
              </a:rPr>
              <a:t>密码永远以加密形态存在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08551" y="727710"/>
            <a:ext cx="337489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AES-256 + X25519 Sealed Box 零知识加密架构</a:t>
            </a:r>
          </a:p>
        </p:txBody>
      </p:sp>
      <p:sp>
        <p:nvSpPr>
          <p:cNvPr id="6" name="Ellipse 6"/>
          <p:cNvSpPr/>
          <p:nvPr/>
        </p:nvSpPr>
        <p:spPr>
          <a:xfrm>
            <a:off x="3810000" y="1428750"/>
            <a:ext cx="4572000" cy="4572000"/>
          </a:xfrm>
          <a:prstGeom prst="ellipse">
            <a:avLst/>
          </a:prstGeom>
          <a:noFill/>
          <a:ln w="19050">
            <a:solidFill>
              <a:srgbClr val="2563EB">
                <a:alpha val="15000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3810000" y="1428750"/>
            <a:ext cx="4572000" cy="4572000"/>
          </a:xfrm>
          <a:prstGeom prst="ellipse">
            <a:avLst/>
          </a:prstGeom>
          <a:solidFill>
            <a:srgbClr val="2563EB">
              <a:alpha val="3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492686" y="1394460"/>
            <a:ext cx="12066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563EB"/>
                </a:solidFill>
                <a:latin typeface="Georgia"/>
                <a:ea typeface="SimHei"/>
                <a:cs typeface="Georgia"/>
              </a:rPr>
              <a:t>生物识别授权层</a:t>
            </a:r>
          </a:p>
        </p:txBody>
      </p:sp>
      <p:sp>
        <p:nvSpPr>
          <p:cNvPr id="9" name="Freeform 9"/>
          <p:cNvSpPr/>
          <p:nvPr/>
        </p:nvSpPr>
        <p:spPr>
          <a:xfrm>
            <a:off x="4000500" y="34290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700" y="91678"/>
                </a:moveTo>
                <a:cubicBezTo>
                  <a:pt x="266700" y="142311"/>
                  <a:pt x="225655" y="183356"/>
                  <a:pt x="175022" y="183356"/>
                </a:cubicBezTo>
                <a:lnTo>
                  <a:pt x="116681" y="183356"/>
                </a:lnTo>
                <a:lnTo>
                  <a:pt x="116681" y="216694"/>
                </a:lnTo>
                <a:lnTo>
                  <a:pt x="83344" y="216694"/>
                </a:lnTo>
                <a:lnTo>
                  <a:pt x="83344" y="250031"/>
                </a:lnTo>
                <a:lnTo>
                  <a:pt x="66675" y="266700"/>
                </a:lnTo>
                <a:lnTo>
                  <a:pt x="0" y="266700"/>
                </a:lnTo>
                <a:lnTo>
                  <a:pt x="0" y="200025"/>
                </a:lnTo>
                <a:lnTo>
                  <a:pt x="86069" y="113956"/>
                </a:lnTo>
                <a:cubicBezTo>
                  <a:pt x="84289" y="106824"/>
                  <a:pt x="83344" y="99361"/>
                  <a:pt x="83344" y="91678"/>
                </a:cubicBezTo>
                <a:cubicBezTo>
                  <a:pt x="83344" y="41046"/>
                  <a:pt x="124389" y="0"/>
                  <a:pt x="175022" y="0"/>
                </a:cubicBezTo>
                <a:cubicBezTo>
                  <a:pt x="225655" y="0"/>
                  <a:pt x="266700" y="41046"/>
                  <a:pt x="266700" y="91678"/>
                </a:cubicBezTo>
                <a:close/>
                <a:moveTo>
                  <a:pt x="216694" y="66675"/>
                </a:moveTo>
                <a:cubicBezTo>
                  <a:pt x="216694" y="75881"/>
                  <a:pt x="209231" y="83344"/>
                  <a:pt x="200025" y="83344"/>
                </a:cubicBezTo>
                <a:cubicBezTo>
                  <a:pt x="190819" y="83344"/>
                  <a:pt x="183356" y="75881"/>
                  <a:pt x="183356" y="66675"/>
                </a:cubicBezTo>
                <a:cubicBezTo>
                  <a:pt x="183356" y="57469"/>
                  <a:pt x="190819" y="50006"/>
                  <a:pt x="200025" y="50006"/>
                </a:cubicBezTo>
                <a:cubicBezTo>
                  <a:pt x="209231" y="50006"/>
                  <a:pt x="216694" y="57469"/>
                  <a:pt x="216694" y="66675"/>
                </a:cubicBez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7924800" y="34290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266700" y="91678"/>
                </a:moveTo>
                <a:cubicBezTo>
                  <a:pt x="266700" y="142311"/>
                  <a:pt x="225655" y="183356"/>
                  <a:pt x="175022" y="183356"/>
                </a:cubicBezTo>
                <a:lnTo>
                  <a:pt x="116681" y="183356"/>
                </a:lnTo>
                <a:lnTo>
                  <a:pt x="116681" y="216694"/>
                </a:lnTo>
                <a:lnTo>
                  <a:pt x="83344" y="216694"/>
                </a:lnTo>
                <a:lnTo>
                  <a:pt x="83344" y="250031"/>
                </a:lnTo>
                <a:lnTo>
                  <a:pt x="66675" y="266700"/>
                </a:lnTo>
                <a:lnTo>
                  <a:pt x="0" y="266700"/>
                </a:lnTo>
                <a:lnTo>
                  <a:pt x="0" y="200025"/>
                </a:lnTo>
                <a:lnTo>
                  <a:pt x="86069" y="113956"/>
                </a:lnTo>
                <a:cubicBezTo>
                  <a:pt x="84289" y="106824"/>
                  <a:pt x="83344" y="99361"/>
                  <a:pt x="83344" y="91678"/>
                </a:cubicBezTo>
                <a:cubicBezTo>
                  <a:pt x="83344" y="41046"/>
                  <a:pt x="124389" y="0"/>
                  <a:pt x="175022" y="0"/>
                </a:cubicBezTo>
                <a:cubicBezTo>
                  <a:pt x="225655" y="0"/>
                  <a:pt x="266700" y="41046"/>
                  <a:pt x="266700" y="91678"/>
                </a:cubicBezTo>
                <a:close/>
                <a:moveTo>
                  <a:pt x="216694" y="66675"/>
                </a:moveTo>
                <a:cubicBezTo>
                  <a:pt x="216694" y="75881"/>
                  <a:pt x="209231" y="83344"/>
                  <a:pt x="200025" y="83344"/>
                </a:cubicBezTo>
                <a:cubicBezTo>
                  <a:pt x="190819" y="83344"/>
                  <a:pt x="183356" y="75881"/>
                  <a:pt x="183356" y="66675"/>
                </a:cubicBezTo>
                <a:cubicBezTo>
                  <a:pt x="183356" y="57469"/>
                  <a:pt x="190819" y="50006"/>
                  <a:pt x="200025" y="50006"/>
                </a:cubicBezTo>
                <a:cubicBezTo>
                  <a:pt x="209231" y="50006"/>
                  <a:pt x="216694" y="57469"/>
                  <a:pt x="216694" y="66675"/>
                </a:cubicBez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4572000" y="2190750"/>
            <a:ext cx="3048000" cy="3048000"/>
          </a:xfrm>
          <a:prstGeom prst="ellipse">
            <a:avLst/>
          </a:prstGeom>
          <a:noFill/>
          <a:ln w="19050">
            <a:solidFill>
              <a:srgbClr val="0EA5A4">
                <a:alpha val="25000"/>
              </a:srgbClr>
            </a:solidFill>
          </a:ln>
        </p:spPr>
      </p:sp>
      <p:sp>
        <p:nvSpPr>
          <p:cNvPr id="12" name="Ellipse 12"/>
          <p:cNvSpPr/>
          <p:nvPr/>
        </p:nvSpPr>
        <p:spPr>
          <a:xfrm>
            <a:off x="4572000" y="2190750"/>
            <a:ext cx="3048000" cy="3048000"/>
          </a:xfrm>
          <a:prstGeom prst="ellipse">
            <a:avLst/>
          </a:prstGeom>
          <a:solidFill>
            <a:srgbClr val="0EA5A4">
              <a:alpha val="4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4381500" y="2952750"/>
            <a:ext cx="1143000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4288">
            <a:solidFill>
              <a:srgbClr val="0EA5A4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599325" y="3133249"/>
            <a:ext cx="7073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EA5A4"/>
                </a:solidFill>
                <a:latin typeface="Arial"/>
                <a:ea typeface="Microsoft YaHei"/>
                <a:cs typeface="Arial"/>
              </a:rPr>
              <a:t>主密码包裹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667500" y="2952750"/>
            <a:ext cx="1143000" cy="476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4288">
            <a:solidFill>
              <a:srgbClr val="0EA5A4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885325" y="3133249"/>
            <a:ext cx="7073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EA5A4"/>
                </a:solidFill>
                <a:latin typeface="Arial"/>
                <a:ea typeface="Microsoft YaHei"/>
                <a:cs typeface="Arial"/>
              </a:rPr>
              <a:t>恢复码包裹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61522" y="2768441"/>
            <a:ext cx="4555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KDF 派生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38022" y="2768441"/>
            <a:ext cx="4555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KDF 派生</a:t>
            </a:r>
          </a:p>
        </p:txBody>
      </p:sp>
      <p:sp>
        <p:nvSpPr>
          <p:cNvPr id="19" name="Ellipse 19"/>
          <p:cNvSpPr/>
          <p:nvPr/>
        </p:nvSpPr>
        <p:spPr>
          <a:xfrm>
            <a:off x="5429250" y="3048000"/>
            <a:ext cx="1333500" cy="1333500"/>
          </a:xfrm>
          <a:prstGeom prst="ellipse">
            <a:avLst/>
          </a:prstGeom>
          <a:gradFill>
            <a:gsLst>
              <a:gs pos="0">
                <a:srgbClr val="F59E0B">
                  <a:alpha val="30000"/>
                </a:srgbClr>
              </a:gs>
              <a:gs pos="100000">
                <a:srgbClr val="F59E0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5429250" y="3048000"/>
            <a:ext cx="1333500" cy="1333500"/>
          </a:xfrm>
          <a:prstGeom prst="ellipse">
            <a:avLst/>
          </a:prstGeom>
          <a:noFill/>
          <a:ln w="19050">
            <a:solidFill>
              <a:srgbClr val="F59E0B">
                <a:alpha val="40000"/>
              </a:srgbClr>
            </a:solidFill>
          </a:ln>
        </p:spPr>
      </p:sp>
      <p:sp>
        <p:nvSpPr>
          <p:cNvPr id="21" name="Ellipse 21"/>
          <p:cNvSpPr/>
          <p:nvPr/>
        </p:nvSpPr>
        <p:spPr>
          <a:xfrm>
            <a:off x="5762625" y="3381375"/>
            <a:ext cx="666750" cy="666750"/>
          </a:xfrm>
          <a:prstGeom prst="ellipse">
            <a:avLst/>
          </a:prstGeom>
          <a:solidFill>
            <a:srgbClr val="F59E0B">
              <a:alpha val="15000"/>
            </a:srgbClr>
          </a:solidFill>
          <a:ln>
            <a:noFill/>
          </a:ln>
        </p:spPr>
      </p:sp>
      <p:grpSp>
        <p:nvGrpSpPr>
          <p:cNvPr id="25" name="Group 25"/>
          <p:cNvGrpSpPr/>
          <p:nvPr/>
        </p:nvGrpSpPr>
        <p:grpSpPr>
          <a:xfrm>
            <a:off x="5938838" y="3505200"/>
            <a:ext cx="314325" cy="419100"/>
            <a:chOff x="5938838" y="3505200"/>
            <a:chExt cx="314325" cy="419100"/>
          </a:xfrm>
        </p:grpSpPr>
        <p:sp>
          <p:nvSpPr>
            <p:cNvPr id="22" name="Freeform 22"/>
            <p:cNvSpPr/>
            <p:nvPr/>
          </p:nvSpPr>
          <p:spPr>
            <a:xfrm>
              <a:off x="5938838" y="3672840"/>
              <a:ext cx="314325" cy="120491"/>
            </a:xfrm>
            <a:custGeom>
              <a:avLst/>
              <a:gdLst/>
              <a:ahLst/>
              <a:cxnLst/>
              <a:rect l="l" t="t" r="r" b="b"/>
              <a:pathLst>
                <a:path w="314325" h="120491">
                  <a:moveTo>
                    <a:pt x="291722" y="13363"/>
                  </a:moveTo>
                  <a:cubicBezTo>
                    <a:pt x="299091" y="9678"/>
                    <a:pt x="306789" y="5234"/>
                    <a:pt x="314325" y="0"/>
                  </a:cubicBezTo>
                  <a:lnTo>
                    <a:pt x="314325" y="41910"/>
                  </a:lnTo>
                  <a:cubicBezTo>
                    <a:pt x="314325" y="85309"/>
                    <a:pt x="243961" y="120491"/>
                    <a:pt x="157162" y="120491"/>
                  </a:cubicBezTo>
                  <a:cubicBezTo>
                    <a:pt x="70364" y="120491"/>
                    <a:pt x="0" y="85309"/>
                    <a:pt x="0" y="41910"/>
                  </a:cubicBezTo>
                  <a:lnTo>
                    <a:pt x="0" y="0"/>
                  </a:lnTo>
                  <a:cubicBezTo>
                    <a:pt x="7536" y="5234"/>
                    <a:pt x="15234" y="9678"/>
                    <a:pt x="22603" y="13363"/>
                  </a:cubicBezTo>
                  <a:cubicBezTo>
                    <a:pt x="59747" y="31935"/>
                    <a:pt x="107394" y="41910"/>
                    <a:pt x="157162" y="41910"/>
                  </a:cubicBezTo>
                  <a:cubicBezTo>
                    <a:pt x="206931" y="41910"/>
                    <a:pt x="254577" y="31935"/>
                    <a:pt x="291722" y="13363"/>
                  </a:cubicBez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5938838" y="3803809"/>
              <a:ext cx="314325" cy="120491"/>
            </a:xfrm>
            <a:custGeom>
              <a:avLst/>
              <a:gdLst/>
              <a:ahLst/>
              <a:cxnLst/>
              <a:rect l="l" t="t" r="r" b="b"/>
              <a:pathLst>
                <a:path w="314325" h="120491">
                  <a:moveTo>
                    <a:pt x="0" y="0"/>
                  </a:moveTo>
                  <a:lnTo>
                    <a:pt x="0" y="41910"/>
                  </a:lnTo>
                  <a:cubicBezTo>
                    <a:pt x="0" y="85310"/>
                    <a:pt x="70364" y="120491"/>
                    <a:pt x="157162" y="120491"/>
                  </a:cubicBezTo>
                  <a:cubicBezTo>
                    <a:pt x="243961" y="120491"/>
                    <a:pt x="314325" y="85310"/>
                    <a:pt x="314325" y="41910"/>
                  </a:cubicBezTo>
                  <a:lnTo>
                    <a:pt x="314325" y="0"/>
                  </a:lnTo>
                  <a:cubicBezTo>
                    <a:pt x="306789" y="5234"/>
                    <a:pt x="299091" y="9679"/>
                    <a:pt x="291722" y="13364"/>
                  </a:cubicBezTo>
                  <a:cubicBezTo>
                    <a:pt x="254577" y="31935"/>
                    <a:pt x="206931" y="41910"/>
                    <a:pt x="157162" y="41910"/>
                  </a:cubicBezTo>
                  <a:cubicBezTo>
                    <a:pt x="107394" y="41910"/>
                    <a:pt x="59747" y="31935"/>
                    <a:pt x="22603" y="13364"/>
                  </a:cubicBezTo>
                  <a:cubicBezTo>
                    <a:pt x="15234" y="9679"/>
                    <a:pt x="7536" y="5234"/>
                    <a:pt x="0" y="0"/>
                  </a:cubicBez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5938838" y="3505200"/>
              <a:ext cx="314325" cy="157162"/>
            </a:xfrm>
            <a:custGeom>
              <a:avLst/>
              <a:gdLst/>
              <a:ahLst/>
              <a:cxnLst/>
              <a:rect l="l" t="t" r="r" b="b"/>
              <a:pathLst>
                <a:path w="314325" h="157162">
                  <a:moveTo>
                    <a:pt x="157162" y="0"/>
                  </a:moveTo>
                  <a:cubicBezTo>
                    <a:pt x="243961" y="0"/>
                    <a:pt x="314325" y="35182"/>
                    <a:pt x="314325" y="78581"/>
                  </a:cubicBezTo>
                  <a:cubicBezTo>
                    <a:pt x="314325" y="121980"/>
                    <a:pt x="243961" y="157162"/>
                    <a:pt x="157162" y="157162"/>
                  </a:cubicBezTo>
                  <a:cubicBezTo>
                    <a:pt x="70364" y="157162"/>
                    <a:pt x="0" y="121980"/>
                    <a:pt x="0" y="78581"/>
                  </a:cubicBezTo>
                  <a:cubicBezTo>
                    <a:pt x="0" y="35182"/>
                    <a:pt x="70364" y="0"/>
                    <a:pt x="157162" y="0"/>
                  </a:cubicBez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5961375" y="4125278"/>
            <a:ext cx="2692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59E0B"/>
                </a:solidFill>
                <a:latin typeface="Georgia"/>
                <a:ea typeface="SimHei"/>
                <a:cs typeface="Georgia"/>
              </a:rPr>
              <a:t>DEK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24525" y="4331970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数据加密密钥</a:t>
            </a:r>
          </a:p>
        </p:txBody>
      </p:sp>
      <p:sp>
        <p:nvSpPr>
          <p:cNvPr id="28" name="Line 28"/>
          <p:cNvSpPr/>
          <p:nvPr/>
        </p:nvSpPr>
        <p:spPr>
          <a:xfrm>
            <a:off x="5048250" y="3429000"/>
            <a:ext cx="762000" cy="285750"/>
          </a:xfrm>
          <a:custGeom>
            <a:avLst/>
            <a:gdLst/>
            <a:ahLst/>
            <a:cxnLst/>
            <a:rect l="l" t="t" r="r" b="b"/>
            <a:pathLst>
              <a:path w="762000" h="285750">
                <a:moveTo>
                  <a:pt x="0" y="0"/>
                </a:moveTo>
                <a:lnTo>
                  <a:pt x="762000" y="285750"/>
                </a:lnTo>
              </a:path>
            </a:pathLst>
          </a:custGeom>
          <a:noFill/>
          <a:ln w="14288">
            <a:solidFill>
              <a:srgbClr val="0EA5A4">
                <a:alpha val="50000"/>
              </a:srgbClr>
            </a:solidFill>
            <a:prstDash val="dash"/>
          </a:ln>
        </p:spPr>
      </p:sp>
      <p:sp>
        <p:nvSpPr>
          <p:cNvPr id="29" name="Line 29"/>
          <p:cNvSpPr/>
          <p:nvPr/>
        </p:nvSpPr>
        <p:spPr>
          <a:xfrm>
            <a:off x="6381750" y="3429000"/>
            <a:ext cx="762000" cy="285750"/>
          </a:xfrm>
          <a:custGeom>
            <a:avLst/>
            <a:gdLst/>
            <a:ahLst/>
            <a:cxnLst/>
            <a:rect l="l" t="t" r="r" b="b"/>
            <a:pathLst>
              <a:path w="762000" h="285750">
                <a:moveTo>
                  <a:pt x="762000" y="0"/>
                </a:moveTo>
                <a:lnTo>
                  <a:pt x="0" y="285750"/>
                </a:lnTo>
              </a:path>
            </a:pathLst>
          </a:custGeom>
          <a:noFill/>
          <a:ln w="14288">
            <a:solidFill>
              <a:srgbClr val="0EA5A4">
                <a:alpha val="50000"/>
              </a:srgbClr>
            </a:solidFill>
            <a:prstDash val="dash"/>
          </a:ln>
        </p:spPr>
      </p:sp>
      <p:sp>
        <p:nvSpPr>
          <p:cNvPr id="30" name="Line 30"/>
          <p:cNvSpPr/>
          <p:nvPr/>
        </p:nvSpPr>
        <p:spPr>
          <a:xfrm>
            <a:off x="4267200" y="3238500"/>
            <a:ext cx="114300" cy="333375"/>
          </a:xfrm>
          <a:custGeom>
            <a:avLst/>
            <a:gdLst/>
            <a:ahLst/>
            <a:cxnLst/>
            <a:rect l="l" t="t" r="r" b="b"/>
            <a:pathLst>
              <a:path w="114300" h="333375">
                <a:moveTo>
                  <a:pt x="0" y="333375"/>
                </a:moveTo>
                <a:lnTo>
                  <a:pt x="114300" y="0"/>
                </a:lnTo>
              </a:path>
            </a:pathLst>
          </a:custGeom>
          <a:noFill/>
          <a:ln w="9525">
            <a:solidFill>
              <a:srgbClr val="2563EB">
                <a:alpha val="40000"/>
              </a:srgbClr>
            </a:solidFill>
            <a:custDash>
              <a:ds d="300000" sp="300000"/>
            </a:custDash>
          </a:ln>
        </p:spPr>
      </p:sp>
      <p:sp>
        <p:nvSpPr>
          <p:cNvPr id="31" name="Line 31"/>
          <p:cNvSpPr/>
          <p:nvPr/>
        </p:nvSpPr>
        <p:spPr>
          <a:xfrm>
            <a:off x="7810500" y="3238500"/>
            <a:ext cx="114300" cy="333375"/>
          </a:xfrm>
          <a:custGeom>
            <a:avLst/>
            <a:gdLst/>
            <a:ahLst/>
            <a:cxnLst/>
            <a:rect l="l" t="t" r="r" b="b"/>
            <a:pathLst>
              <a:path w="114300" h="333375">
                <a:moveTo>
                  <a:pt x="114300" y="333375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2563EB">
                <a:alpha val="40000"/>
              </a:srgbClr>
            </a:solidFill>
            <a:custDash>
              <a:ds d="300000" sp="300000"/>
            </a:custDash>
          </a:ln>
        </p:spPr>
      </p:sp>
      <p:sp>
        <p:nvSpPr>
          <p:cNvPr id="32" name="Rectangle 32"/>
          <p:cNvSpPr/>
          <p:nvPr/>
        </p:nvSpPr>
        <p:spPr>
          <a:xfrm>
            <a:off x="3619500" y="5048250"/>
            <a:ext cx="4953000" cy="533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grpSp>
        <p:nvGrpSpPr>
          <p:cNvPr id="37" name="Group 37"/>
          <p:cNvGrpSpPr/>
          <p:nvPr/>
        </p:nvGrpSpPr>
        <p:grpSpPr>
          <a:xfrm>
            <a:off x="3772932" y="5181600"/>
            <a:ext cx="264637" cy="266700"/>
            <a:chOff x="3772932" y="5181600"/>
            <a:chExt cx="264637" cy="266700"/>
          </a:xfrm>
        </p:grpSpPr>
        <p:sp>
          <p:nvSpPr>
            <p:cNvPr id="33" name="Freeform 33"/>
            <p:cNvSpPr/>
            <p:nvPr/>
          </p:nvSpPr>
          <p:spPr>
            <a:xfrm>
              <a:off x="3772932" y="5236740"/>
              <a:ext cx="264637" cy="61541"/>
            </a:xfrm>
            <a:custGeom>
              <a:avLst/>
              <a:gdLst/>
              <a:ahLst/>
              <a:cxnLst/>
              <a:rect l="l" t="t" r="r" b="b"/>
              <a:pathLst>
                <a:path w="264637" h="61541">
                  <a:moveTo>
                    <a:pt x="24299" y="0"/>
                  </a:moveTo>
                  <a:cubicBezTo>
                    <a:pt x="11443" y="17726"/>
                    <a:pt x="2843" y="38740"/>
                    <a:pt x="0" y="61541"/>
                  </a:cubicBezTo>
                  <a:lnTo>
                    <a:pt x="264637" y="61541"/>
                  </a:lnTo>
                  <a:cubicBezTo>
                    <a:pt x="261793" y="38739"/>
                    <a:pt x="253193" y="17726"/>
                    <a:pt x="240337" y="0"/>
                  </a:cubicBezTo>
                  <a:cubicBezTo>
                    <a:pt x="239643" y="388"/>
                    <a:pt x="238940" y="777"/>
                    <a:pt x="238228" y="1165"/>
                  </a:cubicBezTo>
                  <a:cubicBezTo>
                    <a:pt x="213469" y="14670"/>
                    <a:pt x="177399" y="28203"/>
                    <a:pt x="132318" y="28203"/>
                  </a:cubicBezTo>
                  <a:cubicBezTo>
                    <a:pt x="87237" y="28203"/>
                    <a:pt x="51166" y="14670"/>
                    <a:pt x="26407" y="1165"/>
                  </a:cubicBezTo>
                  <a:cubicBezTo>
                    <a:pt x="25695" y="777"/>
                    <a:pt x="24993" y="388"/>
                    <a:pt x="24299" y="0"/>
                  </a:cubicBezTo>
                  <a:close/>
                </a:path>
              </a:pathLst>
            </a:custGeom>
            <a:solidFill>
              <a:srgbClr val="6B7280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3820969" y="5181600"/>
              <a:ext cx="168562" cy="50006"/>
            </a:xfrm>
            <a:custGeom>
              <a:avLst/>
              <a:gdLst/>
              <a:ahLst/>
              <a:cxnLst/>
              <a:rect l="l" t="t" r="r" b="b"/>
              <a:pathLst>
                <a:path w="168562" h="50006">
                  <a:moveTo>
                    <a:pt x="168562" y="30006"/>
                  </a:moveTo>
                  <a:cubicBezTo>
                    <a:pt x="147812" y="40430"/>
                    <a:pt x="119244" y="50006"/>
                    <a:pt x="84281" y="50006"/>
                  </a:cubicBezTo>
                  <a:cubicBezTo>
                    <a:pt x="49318" y="50006"/>
                    <a:pt x="20750" y="40430"/>
                    <a:pt x="0" y="30006"/>
                  </a:cubicBezTo>
                  <a:cubicBezTo>
                    <a:pt x="22971" y="11250"/>
                    <a:pt x="52312" y="0"/>
                    <a:pt x="84281" y="0"/>
                  </a:cubicBezTo>
                  <a:cubicBezTo>
                    <a:pt x="116250" y="0"/>
                    <a:pt x="145591" y="11249"/>
                    <a:pt x="168562" y="30006"/>
                  </a:cubicBezTo>
                  <a:close/>
                </a:path>
              </a:pathLst>
            </a:custGeom>
            <a:solidFill>
              <a:srgbClr val="6B7280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3772932" y="5331619"/>
              <a:ext cx="264637" cy="61541"/>
            </a:xfrm>
            <a:custGeom>
              <a:avLst/>
              <a:gdLst/>
              <a:ahLst/>
              <a:cxnLst/>
              <a:rect l="l" t="t" r="r" b="b"/>
              <a:pathLst>
                <a:path w="264637" h="61541">
                  <a:moveTo>
                    <a:pt x="0" y="0"/>
                  </a:moveTo>
                  <a:cubicBezTo>
                    <a:pt x="2843" y="22801"/>
                    <a:pt x="11443" y="43815"/>
                    <a:pt x="24300" y="61541"/>
                  </a:cubicBezTo>
                  <a:cubicBezTo>
                    <a:pt x="24993" y="61153"/>
                    <a:pt x="25696" y="60764"/>
                    <a:pt x="26407" y="60376"/>
                  </a:cubicBezTo>
                  <a:cubicBezTo>
                    <a:pt x="51167" y="46871"/>
                    <a:pt x="87238" y="33338"/>
                    <a:pt x="132318" y="33338"/>
                  </a:cubicBezTo>
                  <a:cubicBezTo>
                    <a:pt x="177399" y="33338"/>
                    <a:pt x="213470" y="46871"/>
                    <a:pt x="238228" y="60376"/>
                  </a:cubicBezTo>
                  <a:cubicBezTo>
                    <a:pt x="238942" y="60764"/>
                    <a:pt x="239643" y="61153"/>
                    <a:pt x="240337" y="61541"/>
                  </a:cubicBezTo>
                  <a:cubicBezTo>
                    <a:pt x="253193" y="43815"/>
                    <a:pt x="261793" y="22801"/>
                    <a:pt x="26463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B7280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3820969" y="5398294"/>
              <a:ext cx="168562" cy="50006"/>
            </a:xfrm>
            <a:custGeom>
              <a:avLst/>
              <a:gdLst/>
              <a:ahLst/>
              <a:cxnLst/>
              <a:rect l="l" t="t" r="r" b="b"/>
              <a:pathLst>
                <a:path w="168562" h="50006">
                  <a:moveTo>
                    <a:pt x="84281" y="50006"/>
                  </a:moveTo>
                  <a:cubicBezTo>
                    <a:pt x="52312" y="50006"/>
                    <a:pt x="22971" y="38757"/>
                    <a:pt x="0" y="20001"/>
                  </a:cubicBezTo>
                  <a:cubicBezTo>
                    <a:pt x="20750" y="9576"/>
                    <a:pt x="49318" y="0"/>
                    <a:pt x="84281" y="0"/>
                  </a:cubicBezTo>
                  <a:cubicBezTo>
                    <a:pt x="119244" y="0"/>
                    <a:pt x="147812" y="9576"/>
                    <a:pt x="168562" y="20001"/>
                  </a:cubicBezTo>
                  <a:cubicBezTo>
                    <a:pt x="145590" y="38757"/>
                    <a:pt x="116250" y="50006"/>
                    <a:pt x="84281" y="50006"/>
                  </a:cubicBezTo>
                  <a:close/>
                </a:path>
              </a:pathLst>
            </a:custGeom>
            <a:solidFill>
              <a:srgbClr val="6B7280"/>
            </a:solidFill>
            <a:ln>
              <a:noFill/>
            </a:ln>
          </p:spPr>
        </p:sp>
      </p:grpSp>
      <p:sp>
        <p:nvSpPr>
          <p:cNvPr id="38" name="TextBox 38"/>
          <p:cNvSpPr txBox="1"/>
          <p:nvPr/>
        </p:nvSpPr>
        <p:spPr>
          <a:xfrm>
            <a:off x="4177665" y="5201602"/>
            <a:ext cx="16291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11827"/>
                </a:solidFill>
                <a:latin typeface="Georgia"/>
                <a:ea typeface="SimHei"/>
                <a:cs typeface="Georgia"/>
              </a:rPr>
              <a:t>X25519 Sealed Box 封装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178618" y="5400199"/>
            <a:ext cx="2105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后端仅做慢哈希验证，无法看到明文</a:t>
            </a:r>
          </a:p>
        </p:txBody>
      </p:sp>
      <p:sp>
        <p:nvSpPr>
          <p:cNvPr id="40" name="Line 40"/>
          <p:cNvSpPr/>
          <p:nvPr/>
        </p:nvSpPr>
        <p:spPr>
          <a:xfrm>
            <a:off x="6096000" y="4381500"/>
            <a:ext cx="9525" cy="666750"/>
          </a:xfrm>
          <a:custGeom>
            <a:avLst/>
            <a:gdLst/>
            <a:ahLst/>
            <a:cxnLst/>
            <a:rect l="l" t="t" r="r" b="b"/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14288">
            <a:solidFill>
              <a:srgbClr val="E5E7EB"/>
            </a:solidFill>
            <a:prstDash val="dash"/>
          </a:ln>
        </p:spPr>
      </p:sp>
      <p:sp>
        <p:nvSpPr>
          <p:cNvPr id="41" name="Polygon 41"/>
          <p:cNvSpPr/>
          <p:nvPr/>
        </p:nvSpPr>
        <p:spPr>
          <a:xfrm>
            <a:off x="6057900" y="5029200"/>
            <a:ext cx="76200" cy="66675"/>
          </a:xfrm>
          <a:custGeom>
            <a:avLst/>
            <a:gdLst/>
            <a:ahLst/>
            <a:cxnLst/>
            <a:rect l="l" t="t" r="r" b="b"/>
            <a:pathLst>
              <a:path w="76200" h="66675">
                <a:moveTo>
                  <a:pt x="0" y="0"/>
                </a:moveTo>
                <a:lnTo>
                  <a:pt x="76200" y="0"/>
                </a:lnTo>
                <a:lnTo>
                  <a:pt x="38100" y="66675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571500" y="6096000"/>
            <a:ext cx="1333500" cy="342900"/>
          </a:xfrm>
          <a:prstGeom prst="roundRect">
            <a:avLst>
              <a:gd name="adj" fmla="val 22222"/>
            </a:avLst>
          </a:prstGeom>
          <a:solidFill>
            <a:srgbClr val="16A34A">
              <a:alpha val="10000"/>
            </a:srgbClr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57369" y="6201728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零知识加密</a:t>
            </a:r>
          </a:p>
        </p:txBody>
      </p:sp>
      <p:sp>
        <p:nvSpPr>
          <p:cNvPr id="44" name="Rectangle 44"/>
          <p:cNvSpPr/>
          <p:nvPr/>
        </p:nvSpPr>
        <p:spPr>
          <a:xfrm>
            <a:off x="2095500" y="6096000"/>
            <a:ext cx="1333500" cy="342900"/>
          </a:xfrm>
          <a:prstGeom prst="roundRect">
            <a:avLst>
              <a:gd name="adj" fmla="val 22222"/>
            </a:avLst>
          </a:prstGeom>
          <a:solidFill>
            <a:srgbClr val="2563EB">
              <a:alpha val="10000"/>
            </a:srgbClr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2381369" y="6201728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端到端保护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667554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0EA5A4"/>
              </a:gs>
            </a:gsLst>
            <a:lin ang="54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334708" y="233362"/>
            <a:ext cx="352258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111827"/>
                </a:solidFill>
                <a:latin typeface="Georgia"/>
                <a:ea typeface="SimHei"/>
                <a:cs typeface="Georgia"/>
              </a:rPr>
              <a:t>为什么选择 SafeVault？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2032" y="610552"/>
            <a:ext cx="21479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功能对比矩阵 · 核心维度横向比较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52500"/>
            <a:ext cx="2095500" cy="47625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289923" y="1126331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475569"/>
                </a:solidFill>
                <a:latin typeface="Georgia"/>
                <a:ea typeface="SimHei"/>
                <a:cs typeface="Georgia"/>
              </a:rPr>
              <a:t>对比维度</a:t>
            </a:r>
          </a:p>
        </p:txBody>
      </p:sp>
      <p:sp>
        <p:nvSpPr>
          <p:cNvPr id="8" name="Rectangle 8"/>
          <p:cNvSpPr/>
          <p:nvPr/>
        </p:nvSpPr>
        <p:spPr>
          <a:xfrm>
            <a:off x="2857500" y="904875"/>
            <a:ext cx="2190750" cy="542925"/>
          </a:xfrm>
          <a:prstGeom prst="roundRect">
            <a:avLst>
              <a:gd name="adj" fmla="val 14035"/>
            </a:avLst>
          </a:prstGeom>
          <a:solidFill>
            <a:srgbClr val="2563EB"/>
          </a:solidFill>
          <a:ln>
            <a:noFill/>
          </a:ln>
          <a:effectLst>
            <a:outerShdw blurRad="114300" dist="38100" dir="5400000" algn="ctr" rotWithShape="0">
              <a:srgbClr val="0F172A">
                <a:alpha val="9000"/>
              </a:srgbClr>
            </a:outerShdw>
          </a:effectLst>
        </p:spPr>
      </p:sp>
      <p:sp>
        <p:nvSpPr>
          <p:cNvPr id="9" name="Rectangle 9"/>
          <p:cNvSpPr/>
          <p:nvPr/>
        </p:nvSpPr>
        <p:spPr>
          <a:xfrm>
            <a:off x="4286250" y="828675"/>
            <a:ext cx="533400" cy="1905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438412" y="871538"/>
            <a:ext cx="22907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推荐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91524" y="1054418"/>
            <a:ext cx="9227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Georgia"/>
                <a:ea typeface="SimHei"/>
                <a:cs typeface="Georgia"/>
              </a:rPr>
              <a:t>SafeVault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49098" y="1282541"/>
            <a:ext cx="8075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本地优先 · 开源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238750" y="952500"/>
            <a:ext cx="2190750" cy="476250"/>
          </a:xfrm>
          <a:prstGeom prst="roundRect">
            <a:avLst>
              <a:gd name="adj" fmla="val 16000"/>
            </a:avLst>
          </a:prstGeom>
          <a:solidFill>
            <a:srgbClr val="64748B"/>
          </a:solidFill>
          <a:ln>
            <a:noFill/>
          </a:ln>
          <a:effectLst>
            <a:outerShdw blurRad="114300" dist="38100" dir="5400000" algn="ctr" rotWithShape="0">
              <a:srgbClr val="0F172A">
                <a:alpha val="9000"/>
              </a:srgbClr>
            </a:outerShdw>
          </a:effectLst>
        </p:spPr>
      </p:sp>
      <p:sp>
        <p:nvSpPr>
          <p:cNvPr id="14" name="TextBox 14"/>
          <p:cNvSpPr txBox="1"/>
          <p:nvPr/>
        </p:nvSpPr>
        <p:spPr>
          <a:xfrm>
            <a:off x="5830244" y="1063942"/>
            <a:ext cx="10077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Georgia"/>
                <a:ea typeface="SimHei"/>
                <a:cs typeface="Georgia"/>
              </a:rPr>
              <a:t>1Password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985355" y="1282541"/>
            <a:ext cx="69754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云优先 · 闭源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620000" y="952500"/>
            <a:ext cx="2190750" cy="47625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>
            <a:noFill/>
          </a:ln>
          <a:effectLst>
            <a:outerShdw blurRad="114300" dist="38100" dir="5400000" algn="ctr" rotWithShape="0">
              <a:srgbClr val="0F172A">
                <a:alpha val="9000"/>
              </a:srgbClr>
            </a:outerShdw>
          </a:effectLst>
        </p:spPr>
      </p:sp>
      <p:sp>
        <p:nvSpPr>
          <p:cNvPr id="17" name="TextBox 17"/>
          <p:cNvSpPr txBox="1"/>
          <p:nvPr/>
        </p:nvSpPr>
        <p:spPr>
          <a:xfrm>
            <a:off x="8235122" y="1063942"/>
            <a:ext cx="96050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Georgia"/>
                <a:ea typeface="SimHei"/>
                <a:cs typeface="Georgia"/>
              </a:rPr>
              <a:t>Bitwarden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66605" y="1282541"/>
            <a:ext cx="69754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开源 · 云同步</a:t>
            </a:r>
          </a:p>
        </p:txBody>
      </p:sp>
      <p:sp>
        <p:nvSpPr>
          <p:cNvPr id="19" name="Rectangle 19"/>
          <p:cNvSpPr/>
          <p:nvPr/>
        </p:nvSpPr>
        <p:spPr>
          <a:xfrm>
            <a:off x="10001250" y="952500"/>
            <a:ext cx="1619250" cy="476250"/>
          </a:xfrm>
          <a:prstGeom prst="roundRect">
            <a:avLst>
              <a:gd name="adj" fmla="val 16000"/>
            </a:avLst>
          </a:prstGeom>
          <a:solidFill>
            <a:srgbClr val="94A3B8"/>
          </a:solidFill>
          <a:ln>
            <a:noFill/>
          </a:ln>
          <a:effectLst>
            <a:outerShdw blurRad="114300" dist="38100" dir="5400000" algn="ctr" rotWithShape="0">
              <a:srgbClr val="0F172A">
                <a:alpha val="9000"/>
              </a:srgbClr>
            </a:outerShdw>
          </a:effectLst>
        </p:spPr>
      </p:sp>
      <p:sp>
        <p:nvSpPr>
          <p:cNvPr id="20" name="TextBox 20"/>
          <p:cNvSpPr txBox="1"/>
          <p:nvPr/>
        </p:nvSpPr>
        <p:spPr>
          <a:xfrm>
            <a:off x="10283171" y="1080135"/>
            <a:ext cx="10554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Georgia"/>
                <a:ea typeface="SimHei"/>
                <a:cs typeface="Georgia"/>
              </a:rPr>
              <a:t>iCloud 钥匙串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536364" y="1282541"/>
            <a:ext cx="54902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Apple 生态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1571625"/>
            <a:ext cx="2095500" cy="619125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132403" y="1812131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334155"/>
                </a:solidFill>
                <a:latin typeface="Georgia"/>
                <a:ea typeface="SimHei"/>
                <a:cs typeface="Georgia"/>
              </a:rPr>
              <a:t>本地加密存储</a:t>
            </a:r>
          </a:p>
        </p:txBody>
      </p:sp>
      <p:sp>
        <p:nvSpPr>
          <p:cNvPr id="24" name="Rectangle 24"/>
          <p:cNvSpPr/>
          <p:nvPr/>
        </p:nvSpPr>
        <p:spPr>
          <a:xfrm>
            <a:off x="2857500" y="1571625"/>
            <a:ext cx="2190750" cy="619125"/>
          </a:xfrm>
          <a:prstGeom prst="roundRect">
            <a:avLst>
              <a:gd name="adj" fmla="val 9231"/>
            </a:avLst>
          </a:prstGeom>
          <a:solidFill>
            <a:srgbClr val="16A34A">
              <a:alpha val="5000"/>
            </a:srgbClr>
          </a:solidFill>
          <a:ln w="14288">
            <a:solidFill>
              <a:srgbClr val="16A34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3876068" y="1695450"/>
            <a:ext cx="1536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667363" y="1987391"/>
            <a:ext cx="571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默认不上云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238750" y="1571625"/>
            <a:ext cx="2190750" cy="619125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5944791" y="1812131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云同步为主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620000" y="1571625"/>
            <a:ext cx="2190750" cy="619125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262283" y="1812131"/>
            <a:ext cx="9061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✓ 可选自托管</a:t>
            </a:r>
          </a:p>
        </p:txBody>
      </p:sp>
      <p:sp>
        <p:nvSpPr>
          <p:cNvPr id="31" name="Rectangle 31"/>
          <p:cNvSpPr/>
          <p:nvPr/>
        </p:nvSpPr>
        <p:spPr>
          <a:xfrm>
            <a:off x="10001250" y="1571625"/>
            <a:ext cx="1619250" cy="619125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0350282" y="1812131"/>
            <a:ext cx="92118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✓ iCloud 加密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2286000"/>
            <a:ext cx="2095500" cy="619125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289923" y="252650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334155"/>
                </a:solidFill>
                <a:latin typeface="Georgia"/>
                <a:ea typeface="SimHei"/>
                <a:cs typeface="Georgia"/>
              </a:rPr>
              <a:t>开源审计</a:t>
            </a:r>
          </a:p>
        </p:txBody>
      </p:sp>
      <p:sp>
        <p:nvSpPr>
          <p:cNvPr id="35" name="Rectangle 35"/>
          <p:cNvSpPr/>
          <p:nvPr/>
        </p:nvSpPr>
        <p:spPr>
          <a:xfrm>
            <a:off x="2857500" y="2286000"/>
            <a:ext cx="2190750" cy="619125"/>
          </a:xfrm>
          <a:prstGeom prst="roundRect">
            <a:avLst>
              <a:gd name="adj" fmla="val 9231"/>
            </a:avLst>
          </a:prstGeom>
          <a:solidFill>
            <a:srgbClr val="16A34A">
              <a:alpha val="5000"/>
            </a:srgbClr>
          </a:solidFill>
          <a:ln w="14288">
            <a:solidFill>
              <a:srgbClr val="16A34A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3876068" y="2409825"/>
            <a:ext cx="1536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502342" y="2701766"/>
            <a:ext cx="90106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核心加密模块开源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238750" y="2286000"/>
            <a:ext cx="2190750" cy="619125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6106061" y="2526506"/>
            <a:ext cx="45612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✗ 闭源</a:t>
            </a:r>
          </a:p>
        </p:txBody>
      </p:sp>
      <p:sp>
        <p:nvSpPr>
          <p:cNvPr id="40" name="Rectangle 40"/>
          <p:cNvSpPr/>
          <p:nvPr/>
        </p:nvSpPr>
        <p:spPr>
          <a:xfrm>
            <a:off x="7620000" y="2286000"/>
            <a:ext cx="2190750" cy="619125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8412301" y="2526506"/>
            <a:ext cx="6061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✓ 全开源</a:t>
            </a:r>
          </a:p>
        </p:txBody>
      </p:sp>
      <p:sp>
        <p:nvSpPr>
          <p:cNvPr id="42" name="Rectangle 42"/>
          <p:cNvSpPr/>
          <p:nvPr/>
        </p:nvSpPr>
        <p:spPr>
          <a:xfrm>
            <a:off x="10001250" y="2286000"/>
            <a:ext cx="1619250" cy="619125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10582811" y="2526506"/>
            <a:ext cx="45612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✗ 闭源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3000375"/>
            <a:ext cx="2095500" cy="619125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1132403" y="3240881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334155"/>
                </a:solidFill>
                <a:latin typeface="Georgia"/>
                <a:ea typeface="SimHei"/>
                <a:cs typeface="Georgia"/>
              </a:rPr>
              <a:t>生物识别解锁</a:t>
            </a:r>
          </a:p>
        </p:txBody>
      </p:sp>
      <p:sp>
        <p:nvSpPr>
          <p:cNvPr id="46" name="Rectangle 46"/>
          <p:cNvSpPr/>
          <p:nvPr/>
        </p:nvSpPr>
        <p:spPr>
          <a:xfrm>
            <a:off x="2857500" y="3000375"/>
            <a:ext cx="2190750" cy="619125"/>
          </a:xfrm>
          <a:prstGeom prst="roundRect">
            <a:avLst>
              <a:gd name="adj" fmla="val 9231"/>
            </a:avLst>
          </a:prstGeom>
          <a:solidFill>
            <a:srgbClr val="16A34A">
              <a:alpha val="5000"/>
            </a:srgbClr>
          </a:solidFill>
          <a:ln w="14288">
            <a:solidFill>
              <a:srgbClr val="16A34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3876068" y="3200400"/>
            <a:ext cx="1536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238750" y="3000375"/>
            <a:ext cx="2190750" cy="619125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6257318" y="3200400"/>
            <a:ext cx="1536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50" name="Rectangle 50"/>
          <p:cNvSpPr/>
          <p:nvPr/>
        </p:nvSpPr>
        <p:spPr>
          <a:xfrm>
            <a:off x="7620000" y="3000375"/>
            <a:ext cx="2190750" cy="619125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8638568" y="3200400"/>
            <a:ext cx="1536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52" name="Rectangle 52"/>
          <p:cNvSpPr/>
          <p:nvPr/>
        </p:nvSpPr>
        <p:spPr>
          <a:xfrm>
            <a:off x="10001250" y="3000375"/>
            <a:ext cx="1619250" cy="619125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0734068" y="3200400"/>
            <a:ext cx="1536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54" name="Rectangle 54"/>
          <p:cNvSpPr/>
          <p:nvPr/>
        </p:nvSpPr>
        <p:spPr>
          <a:xfrm>
            <a:off x="571500" y="3714750"/>
            <a:ext cx="2095500" cy="619125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1289923" y="395525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334155"/>
                </a:solidFill>
                <a:latin typeface="Georgia"/>
                <a:ea typeface="SimHei"/>
                <a:cs typeface="Georgia"/>
              </a:rPr>
              <a:t>中文友好</a:t>
            </a:r>
          </a:p>
        </p:txBody>
      </p:sp>
      <p:sp>
        <p:nvSpPr>
          <p:cNvPr id="56" name="Rectangle 56"/>
          <p:cNvSpPr/>
          <p:nvPr/>
        </p:nvSpPr>
        <p:spPr>
          <a:xfrm>
            <a:off x="2857500" y="3714750"/>
            <a:ext cx="2190750" cy="619125"/>
          </a:xfrm>
          <a:prstGeom prst="roundRect">
            <a:avLst>
              <a:gd name="adj" fmla="val 9231"/>
            </a:avLst>
          </a:prstGeom>
          <a:solidFill>
            <a:srgbClr val="16A34A">
              <a:alpha val="5000"/>
            </a:srgbClr>
          </a:solidFill>
          <a:ln w="14288">
            <a:solidFill>
              <a:srgbClr val="16A34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3876068" y="3838575"/>
            <a:ext cx="1536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612356" y="4130516"/>
            <a:ext cx="6810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原生中文设计</a:t>
            </a:r>
          </a:p>
        </p:txBody>
      </p:sp>
      <p:sp>
        <p:nvSpPr>
          <p:cNvPr id="59" name="Rectangle 59"/>
          <p:cNvSpPr/>
          <p:nvPr/>
        </p:nvSpPr>
        <p:spPr>
          <a:xfrm>
            <a:off x="5238750" y="3714750"/>
            <a:ext cx="2190750" cy="619125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6019800" y="395525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部分支持</a:t>
            </a:r>
          </a:p>
        </p:txBody>
      </p:sp>
      <p:sp>
        <p:nvSpPr>
          <p:cNvPr id="61" name="Rectangle 61"/>
          <p:cNvSpPr/>
          <p:nvPr/>
        </p:nvSpPr>
        <p:spPr>
          <a:xfrm>
            <a:off x="7620000" y="3714750"/>
            <a:ext cx="2190750" cy="619125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8401050" y="395525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社区翻译</a:t>
            </a:r>
          </a:p>
        </p:txBody>
      </p:sp>
      <p:sp>
        <p:nvSpPr>
          <p:cNvPr id="63" name="Rectangle 63"/>
          <p:cNvSpPr/>
          <p:nvPr/>
        </p:nvSpPr>
        <p:spPr>
          <a:xfrm>
            <a:off x="10001250" y="3714750"/>
            <a:ext cx="1619250" cy="619125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10275272" y="3955256"/>
            <a:ext cx="107120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✗ 仅 Apple 生态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71500" y="4429125"/>
            <a:ext cx="2095500" cy="619125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1211163" y="4669631"/>
            <a:ext cx="8161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334155"/>
                </a:solidFill>
                <a:latin typeface="Georgia"/>
                <a:ea typeface="SimHei"/>
                <a:cs typeface="Georgia"/>
              </a:rPr>
              <a:t>健康度检测</a:t>
            </a:r>
          </a:p>
        </p:txBody>
      </p:sp>
      <p:sp>
        <p:nvSpPr>
          <p:cNvPr id="67" name="Rectangle 67"/>
          <p:cNvSpPr/>
          <p:nvPr/>
        </p:nvSpPr>
        <p:spPr>
          <a:xfrm>
            <a:off x="2857500" y="4429125"/>
            <a:ext cx="2190750" cy="619125"/>
          </a:xfrm>
          <a:prstGeom prst="roundRect">
            <a:avLst>
              <a:gd name="adj" fmla="val 9231"/>
            </a:avLst>
          </a:prstGeom>
          <a:solidFill>
            <a:srgbClr val="16A34A">
              <a:alpha val="5000"/>
            </a:srgbClr>
          </a:solidFill>
          <a:ln w="14288">
            <a:solidFill>
              <a:srgbClr val="16A34A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3876068" y="4552950"/>
            <a:ext cx="1536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356574" y="4844891"/>
            <a:ext cx="11926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弱/重复/旧检测+一键修</a:t>
            </a:r>
          </a:p>
        </p:txBody>
      </p:sp>
      <p:sp>
        <p:nvSpPr>
          <p:cNvPr id="70" name="Rectangle 70"/>
          <p:cNvSpPr/>
          <p:nvPr/>
        </p:nvSpPr>
        <p:spPr>
          <a:xfrm>
            <a:off x="5238750" y="4429125"/>
            <a:ext cx="2190750" cy="619125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5813524" y="4669631"/>
            <a:ext cx="104120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✓ Watchtower</a:t>
            </a:r>
          </a:p>
        </p:txBody>
      </p:sp>
      <p:sp>
        <p:nvSpPr>
          <p:cNvPr id="72" name="Rectangle 72"/>
          <p:cNvSpPr/>
          <p:nvPr/>
        </p:nvSpPr>
        <p:spPr>
          <a:xfrm>
            <a:off x="7620000" y="4429125"/>
            <a:ext cx="2190750" cy="619125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8326041" y="4669631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仅泄露检测</a:t>
            </a:r>
          </a:p>
        </p:txBody>
      </p:sp>
      <p:sp>
        <p:nvSpPr>
          <p:cNvPr id="74" name="Rectangle 74"/>
          <p:cNvSpPr/>
          <p:nvPr/>
        </p:nvSpPr>
        <p:spPr>
          <a:xfrm>
            <a:off x="10001250" y="4429125"/>
            <a:ext cx="1619250" cy="619125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10755332" y="4669631"/>
            <a:ext cx="1110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✗</a:t>
            </a:r>
          </a:p>
        </p:txBody>
      </p:sp>
      <p:sp>
        <p:nvSpPr>
          <p:cNvPr id="76" name="Rectangle 76"/>
          <p:cNvSpPr/>
          <p:nvPr/>
        </p:nvSpPr>
        <p:spPr>
          <a:xfrm>
            <a:off x="571500" y="5143500"/>
            <a:ext cx="2095500" cy="619125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1211163" y="5384006"/>
            <a:ext cx="8161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334155"/>
                </a:solidFill>
                <a:latin typeface="Georgia"/>
                <a:ea typeface="SimHei"/>
                <a:cs typeface="Georgia"/>
              </a:rPr>
              <a:t>恢复码机制</a:t>
            </a:r>
          </a:p>
        </p:txBody>
      </p:sp>
      <p:sp>
        <p:nvSpPr>
          <p:cNvPr id="78" name="Rectangle 78"/>
          <p:cNvSpPr/>
          <p:nvPr/>
        </p:nvSpPr>
        <p:spPr>
          <a:xfrm>
            <a:off x="2857500" y="5143500"/>
            <a:ext cx="2190750" cy="619125"/>
          </a:xfrm>
          <a:prstGeom prst="roundRect">
            <a:avLst>
              <a:gd name="adj" fmla="val 9231"/>
            </a:avLst>
          </a:prstGeom>
          <a:solidFill>
            <a:srgbClr val="16A34A">
              <a:alpha val="5000"/>
            </a:srgbClr>
          </a:solidFill>
          <a:ln w="14288">
            <a:solidFill>
              <a:srgbClr val="16A34A"/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3876068" y="5267325"/>
            <a:ext cx="1536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3419832" y="5559266"/>
            <a:ext cx="106608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125bit 熵 + 安全问题</a:t>
            </a:r>
          </a:p>
        </p:txBody>
      </p:sp>
      <p:sp>
        <p:nvSpPr>
          <p:cNvPr id="81" name="Rectangle 81"/>
          <p:cNvSpPr/>
          <p:nvPr/>
        </p:nvSpPr>
        <p:spPr>
          <a:xfrm>
            <a:off x="5238750" y="5143500"/>
            <a:ext cx="2190750" cy="619125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82" name="TextBox 82"/>
          <p:cNvSpPr txBox="1"/>
          <p:nvPr/>
        </p:nvSpPr>
        <p:spPr>
          <a:xfrm>
            <a:off x="5869781" y="5384006"/>
            <a:ext cx="9286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账号恢复密钥</a:t>
            </a:r>
          </a:p>
        </p:txBody>
      </p:sp>
      <p:sp>
        <p:nvSpPr>
          <p:cNvPr id="83" name="Rectangle 83"/>
          <p:cNvSpPr/>
          <p:nvPr/>
        </p:nvSpPr>
        <p:spPr>
          <a:xfrm>
            <a:off x="7620000" y="5143500"/>
            <a:ext cx="2190750" cy="619125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84" name="TextBox 84"/>
          <p:cNvSpPr txBox="1"/>
          <p:nvPr/>
        </p:nvSpPr>
        <p:spPr>
          <a:xfrm>
            <a:off x="8326041" y="5384006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主密码恢复</a:t>
            </a:r>
          </a:p>
        </p:txBody>
      </p:sp>
      <p:sp>
        <p:nvSpPr>
          <p:cNvPr id="85" name="Rectangle 85"/>
          <p:cNvSpPr/>
          <p:nvPr/>
        </p:nvSpPr>
        <p:spPr>
          <a:xfrm>
            <a:off x="10001250" y="5143500"/>
            <a:ext cx="1619250" cy="619125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86" name="TextBox 86"/>
          <p:cNvSpPr txBox="1"/>
          <p:nvPr/>
        </p:nvSpPr>
        <p:spPr>
          <a:xfrm>
            <a:off x="10357783" y="5384006"/>
            <a:ext cx="9061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✗ 无独立恢复</a:t>
            </a:r>
          </a:p>
        </p:txBody>
      </p:sp>
      <p:sp>
        <p:nvSpPr>
          <p:cNvPr id="87" name="Rectangle 87"/>
          <p:cNvSpPr/>
          <p:nvPr/>
        </p:nvSpPr>
        <p:spPr>
          <a:xfrm>
            <a:off x="571500" y="5953125"/>
            <a:ext cx="2095500" cy="57150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1289923" y="6174581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334155"/>
                </a:solidFill>
                <a:latin typeface="Georgia"/>
                <a:ea typeface="SimHei"/>
                <a:cs typeface="Georgia"/>
              </a:rPr>
              <a:t>综合评分</a:t>
            </a:r>
          </a:p>
        </p:txBody>
      </p:sp>
      <p:sp>
        <p:nvSpPr>
          <p:cNvPr id="89" name="Rectangle 89"/>
          <p:cNvSpPr/>
          <p:nvPr/>
        </p:nvSpPr>
        <p:spPr>
          <a:xfrm>
            <a:off x="2857500" y="5953125"/>
            <a:ext cx="2190750" cy="571500"/>
          </a:xfrm>
          <a:prstGeom prst="roundRect">
            <a:avLst>
              <a:gd name="adj" fmla="val 13333"/>
            </a:avLst>
          </a:prstGeom>
          <a:solidFill>
            <a:srgbClr val="16A34A">
              <a:alpha val="10000"/>
            </a:srgbClr>
          </a:solidFill>
          <a:ln>
            <a:noFill/>
          </a:ln>
        </p:spPr>
      </p:sp>
      <p:sp>
        <p:nvSpPr>
          <p:cNvPr id="90" name="TextBox 90"/>
          <p:cNvSpPr txBox="1"/>
          <p:nvPr/>
        </p:nvSpPr>
        <p:spPr>
          <a:xfrm>
            <a:off x="3764485" y="6088380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6A34A"/>
                </a:solidFill>
                <a:latin typeface="Consolas"/>
                <a:ea typeface="Microsoft YaHei"/>
                <a:cs typeface="Consolas"/>
              </a:rPr>
              <a:t>92</a:t>
            </a:r>
          </a:p>
        </p:txBody>
      </p:sp>
      <p:sp>
        <p:nvSpPr>
          <p:cNvPr id="91" name="Rectangle 91"/>
          <p:cNvSpPr/>
          <p:nvPr/>
        </p:nvSpPr>
        <p:spPr>
          <a:xfrm>
            <a:off x="5238750" y="5953125"/>
            <a:ext cx="2190750" cy="571500"/>
          </a:xfrm>
          <a:prstGeom prst="roundRect">
            <a:avLst>
              <a:gd name="adj" fmla="val 13333"/>
            </a:avLst>
          </a:prstGeom>
          <a:solidFill>
            <a:srgbClr val="64748B">
              <a:alpha val="8000"/>
            </a:srgbClr>
          </a:solidFill>
          <a:ln>
            <a:noFill/>
          </a:ln>
        </p:spPr>
      </p:sp>
      <p:sp>
        <p:nvSpPr>
          <p:cNvPr id="92" name="TextBox 92"/>
          <p:cNvSpPr txBox="1"/>
          <p:nvPr/>
        </p:nvSpPr>
        <p:spPr>
          <a:xfrm>
            <a:off x="6145735" y="6088380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75</a:t>
            </a:r>
          </a:p>
        </p:txBody>
      </p:sp>
      <p:sp>
        <p:nvSpPr>
          <p:cNvPr id="93" name="Rectangle 93"/>
          <p:cNvSpPr/>
          <p:nvPr/>
        </p:nvSpPr>
        <p:spPr>
          <a:xfrm>
            <a:off x="7620000" y="5953125"/>
            <a:ext cx="2190750" cy="571500"/>
          </a:xfrm>
          <a:prstGeom prst="roundRect">
            <a:avLst>
              <a:gd name="adj" fmla="val 13333"/>
            </a:avLst>
          </a:prstGeom>
          <a:solidFill>
            <a:srgbClr val="3B82F6">
              <a:alpha val="8000"/>
            </a:srgbClr>
          </a:solidFill>
          <a:ln>
            <a:noFill/>
          </a:ln>
        </p:spPr>
      </p:sp>
      <p:sp>
        <p:nvSpPr>
          <p:cNvPr id="94" name="TextBox 94"/>
          <p:cNvSpPr txBox="1"/>
          <p:nvPr/>
        </p:nvSpPr>
        <p:spPr>
          <a:xfrm>
            <a:off x="8526985" y="6088380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3B82F6"/>
                </a:solidFill>
                <a:latin typeface="Consolas"/>
                <a:ea typeface="Microsoft YaHei"/>
                <a:cs typeface="Consolas"/>
              </a:rPr>
              <a:t>80</a:t>
            </a:r>
          </a:p>
        </p:txBody>
      </p:sp>
      <p:sp>
        <p:nvSpPr>
          <p:cNvPr id="95" name="Rectangle 95"/>
          <p:cNvSpPr/>
          <p:nvPr/>
        </p:nvSpPr>
        <p:spPr>
          <a:xfrm>
            <a:off x="10001250" y="5953125"/>
            <a:ext cx="1619250" cy="571500"/>
          </a:xfrm>
          <a:prstGeom prst="roundRect">
            <a:avLst>
              <a:gd name="adj" fmla="val 13333"/>
            </a:avLst>
          </a:prstGeom>
          <a:solidFill>
            <a:srgbClr val="94A3B8">
              <a:alpha val="8000"/>
            </a:srgbClr>
          </a:solidFill>
          <a:ln>
            <a:noFill/>
          </a:ln>
        </p:spPr>
      </p:sp>
      <p:sp>
        <p:nvSpPr>
          <p:cNvPr id="96" name="TextBox 96"/>
          <p:cNvSpPr txBox="1"/>
          <p:nvPr/>
        </p:nvSpPr>
        <p:spPr>
          <a:xfrm>
            <a:off x="10622485" y="6088380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58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1667554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0EA5A4"/>
              </a:gs>
            </a:gsLst>
            <a:lin ang="54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76250"/>
            <a:ext cx="1143000" cy="266700"/>
          </a:xfrm>
          <a:prstGeom prst="roundRect">
            <a:avLst>
              <a:gd name="adj" fmla="val 50000"/>
            </a:avLst>
          </a:prstGeom>
          <a:solidFill>
            <a:srgbClr val="16A34A">
              <a:alpha val="10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57583" y="551974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核心壁垒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3400" y="914400"/>
            <a:ext cx="343662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11827"/>
                </a:solidFill>
                <a:latin typeface="Georgia"/>
                <a:ea typeface="SimHei"/>
                <a:cs typeface="Georgia"/>
              </a:rPr>
              <a:t>开源核心加密模块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0545" y="1488758"/>
            <a:ext cx="29022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接受社区审计，透明建立信任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4355" y="1854518"/>
            <a:ext cx="15464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这是竞品不敢做的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2476500"/>
            <a:ext cx="5334000" cy="17145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>
            <a:noFill/>
          </a:ln>
          <a:effectLst>
            <a:outerShdw blurRad="76200" dist="28575" dir="5400000" algn="ctr" rotWithShape="0">
              <a:srgbClr val="0F172A">
                <a:alpha val="6000"/>
              </a:srgbClr>
            </a:outerShdw>
          </a:effectLst>
        </p:spPr>
      </p:sp>
      <p:sp>
        <p:nvSpPr>
          <p:cNvPr id="10" name="Rectangle 10"/>
          <p:cNvSpPr/>
          <p:nvPr/>
        </p:nvSpPr>
        <p:spPr>
          <a:xfrm>
            <a:off x="571500" y="2476500"/>
            <a:ext cx="533400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828675" y="2781300"/>
            <a:ext cx="533400" cy="533400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</p:sp>
      <p:grpSp>
        <p:nvGrpSpPr>
          <p:cNvPr id="15" name="Group 15"/>
          <p:cNvGrpSpPr/>
          <p:nvPr/>
        </p:nvGrpSpPr>
        <p:grpSpPr>
          <a:xfrm>
            <a:off x="885825" y="2860939"/>
            <a:ext cx="419100" cy="374121"/>
            <a:chOff x="885825" y="2860939"/>
            <a:chExt cx="419100" cy="374121"/>
          </a:xfrm>
        </p:grpSpPr>
        <p:sp>
          <p:nvSpPr>
            <p:cNvPr id="12" name="Freeform 12"/>
            <p:cNvSpPr/>
            <p:nvPr/>
          </p:nvSpPr>
          <p:spPr>
            <a:xfrm>
              <a:off x="1043251" y="2860939"/>
              <a:ext cx="104249" cy="374121"/>
            </a:xfrm>
            <a:custGeom>
              <a:avLst/>
              <a:gdLst/>
              <a:ahLst/>
              <a:cxnLst/>
              <a:rect l="l" t="t" r="r" b="b"/>
              <a:pathLst>
                <a:path w="104249" h="374121">
                  <a:moveTo>
                    <a:pt x="52388" y="0"/>
                  </a:moveTo>
                  <a:lnTo>
                    <a:pt x="0" y="366713"/>
                  </a:lnTo>
                  <a:lnTo>
                    <a:pt x="51861" y="374121"/>
                  </a:lnTo>
                  <a:lnTo>
                    <a:pt x="104249" y="7409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176204" y="2956322"/>
              <a:ext cx="128721" cy="183356"/>
            </a:xfrm>
            <a:custGeom>
              <a:avLst/>
              <a:gdLst/>
              <a:ahLst/>
              <a:cxnLst/>
              <a:rect l="l" t="t" r="r" b="b"/>
              <a:pathLst>
                <a:path w="128721" h="183356">
                  <a:moveTo>
                    <a:pt x="37043" y="183356"/>
                  </a:moveTo>
                  <a:lnTo>
                    <a:pt x="0" y="146313"/>
                  </a:lnTo>
                  <a:lnTo>
                    <a:pt x="54635" y="91678"/>
                  </a:lnTo>
                  <a:lnTo>
                    <a:pt x="0" y="37044"/>
                  </a:lnTo>
                  <a:lnTo>
                    <a:pt x="37043" y="0"/>
                  </a:lnTo>
                  <a:lnTo>
                    <a:pt x="128721" y="91678"/>
                  </a:lnTo>
                  <a:lnTo>
                    <a:pt x="37043" y="183356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885825" y="2956322"/>
              <a:ext cx="128722" cy="183356"/>
            </a:xfrm>
            <a:custGeom>
              <a:avLst/>
              <a:gdLst/>
              <a:ahLst/>
              <a:cxnLst/>
              <a:rect l="l" t="t" r="r" b="b"/>
              <a:pathLst>
                <a:path w="128722" h="183356">
                  <a:moveTo>
                    <a:pt x="74087" y="91678"/>
                  </a:moveTo>
                  <a:lnTo>
                    <a:pt x="128722" y="146313"/>
                  </a:lnTo>
                  <a:lnTo>
                    <a:pt x="91678" y="183356"/>
                  </a:lnTo>
                  <a:lnTo>
                    <a:pt x="0" y="91678"/>
                  </a:lnTo>
                  <a:lnTo>
                    <a:pt x="91678" y="0"/>
                  </a:lnTo>
                  <a:lnTo>
                    <a:pt x="128722" y="37044"/>
                  </a:lnTo>
                  <a:lnTo>
                    <a:pt x="74087" y="91678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503045" y="2850832"/>
            <a:ext cx="16591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11827"/>
                </a:solidFill>
                <a:latin typeface="Georgia"/>
                <a:ea typeface="SimHei"/>
                <a:cs typeface="Georgia"/>
              </a:rPr>
              <a:t>加密模块全开源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08760" y="3185160"/>
            <a:ext cx="24627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加密、KDF、恢复码/密钥包裹逻辑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08760" y="3442335"/>
            <a:ext cx="309486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UI 与业务层可闭源，核心安全代码人人可审</a:t>
            </a:r>
          </a:p>
        </p:txBody>
      </p:sp>
      <p:sp>
        <p:nvSpPr>
          <p:cNvPr id="19" name="Rectangle 19"/>
          <p:cNvSpPr/>
          <p:nvPr/>
        </p:nvSpPr>
        <p:spPr>
          <a:xfrm>
            <a:off x="1524000" y="3762375"/>
            <a:ext cx="685800" cy="228600"/>
          </a:xfrm>
          <a:prstGeom prst="roundRect">
            <a:avLst>
              <a:gd name="adj" fmla="val 50000"/>
            </a:avLst>
          </a:prstGeom>
          <a:solidFill>
            <a:srgbClr val="16A34A">
              <a:alpha val="10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729454" y="381762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透明</a:t>
            </a:r>
          </a:p>
        </p:txBody>
      </p:sp>
      <p:sp>
        <p:nvSpPr>
          <p:cNvPr id="21" name="Rectangle 21"/>
          <p:cNvSpPr/>
          <p:nvPr/>
        </p:nvSpPr>
        <p:spPr>
          <a:xfrm>
            <a:off x="2286000" y="3762375"/>
            <a:ext cx="685800" cy="228600"/>
          </a:xfrm>
          <a:prstGeom prst="roundRect">
            <a:avLst>
              <a:gd name="adj" fmla="val 50000"/>
            </a:avLst>
          </a:prstGeom>
          <a:solidFill>
            <a:srgbClr val="2563EB">
              <a:alpha val="10000"/>
            </a:srgbClr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2428446" y="3817620"/>
            <a:ext cx="4009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可审计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096000" y="2476500"/>
            <a:ext cx="5334000" cy="17145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>
            <a:noFill/>
          </a:ln>
          <a:effectLst>
            <a:outerShdw blurRad="76200" dist="28575" dir="5400000" algn="ctr" rotWithShape="0">
              <a:srgbClr val="0F172A">
                <a:alpha val="6000"/>
              </a:srgbClr>
            </a:outerShdw>
          </a:effectLst>
        </p:spPr>
      </p:sp>
      <p:sp>
        <p:nvSpPr>
          <p:cNvPr id="24" name="Rectangle 24"/>
          <p:cNvSpPr/>
          <p:nvPr/>
        </p:nvSpPr>
        <p:spPr>
          <a:xfrm>
            <a:off x="6096000" y="2476500"/>
            <a:ext cx="5334000" cy="47625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6353175" y="2781300"/>
            <a:ext cx="533400" cy="533400"/>
          </a:xfrm>
          <a:prstGeom prst="ellipse">
            <a:avLst/>
          </a:prstGeom>
          <a:solidFill>
            <a:srgbClr val="0EA5A4">
              <a:alpha val="10000"/>
            </a:srgbClr>
          </a:solidFill>
          <a:ln>
            <a:noFill/>
          </a:ln>
        </p:spPr>
      </p:sp>
      <p:sp>
        <p:nvSpPr>
          <p:cNvPr id="26" name="Freeform 26"/>
          <p:cNvSpPr/>
          <p:nvPr/>
        </p:nvSpPr>
        <p:spPr>
          <a:xfrm>
            <a:off x="6462712" y="2838450"/>
            <a:ext cx="314325" cy="419100"/>
          </a:xfrm>
          <a:custGeom>
            <a:avLst/>
            <a:gdLst/>
            <a:ahLst/>
            <a:cxnLst/>
            <a:rect l="l" t="t" r="r" b="b"/>
            <a:pathLst>
              <a:path w="314325" h="419100">
                <a:moveTo>
                  <a:pt x="183356" y="183356"/>
                </a:moveTo>
                <a:lnTo>
                  <a:pt x="209550" y="0"/>
                </a:lnTo>
                <a:lnTo>
                  <a:pt x="157162" y="0"/>
                </a:lnTo>
                <a:lnTo>
                  <a:pt x="0" y="183356"/>
                </a:lnTo>
                <a:lnTo>
                  <a:pt x="0" y="235744"/>
                </a:lnTo>
                <a:lnTo>
                  <a:pt x="130969" y="235744"/>
                </a:lnTo>
                <a:lnTo>
                  <a:pt x="104775" y="419100"/>
                </a:lnTo>
                <a:lnTo>
                  <a:pt x="157162" y="419100"/>
                </a:lnTo>
                <a:lnTo>
                  <a:pt x="314325" y="235744"/>
                </a:lnTo>
                <a:lnTo>
                  <a:pt x="314325" y="183356"/>
                </a:lnTo>
                <a:lnTo>
                  <a:pt x="183356" y="183356"/>
                </a:lnTo>
                <a:close/>
              </a:path>
            </a:pathLst>
          </a:custGeom>
          <a:solidFill>
            <a:srgbClr val="0EA5A4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027545" y="285083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11827"/>
                </a:solidFill>
                <a:latin typeface="Georgia"/>
                <a:ea typeface="SimHei"/>
                <a:cs typeface="Georgia"/>
              </a:rPr>
              <a:t>现代化技术栈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033260" y="3185160"/>
            <a:ext cx="26148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Vue 3 + Capacitor 8 + Noble 加密库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033260" y="3442335"/>
            <a:ext cx="27268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跨端密文格式统一，App/H5/后端互通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048500" y="3762375"/>
            <a:ext cx="685800" cy="228600"/>
          </a:xfrm>
          <a:prstGeom prst="roundRect">
            <a:avLst>
              <a:gd name="adj" fmla="val 50000"/>
            </a:avLst>
          </a:prstGeom>
          <a:solidFill>
            <a:srgbClr val="0EA5A4">
              <a:alpha val="10000"/>
            </a:srgbClr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7253954" y="381762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A5A4"/>
                </a:solidFill>
                <a:latin typeface="Arial"/>
                <a:ea typeface="Microsoft YaHei"/>
                <a:cs typeface="Arial"/>
              </a:rPr>
              <a:t>跨端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810500" y="3762375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F59E0B">
              <a:alpha val="10000"/>
            </a:srgbClr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991046" y="3817620"/>
            <a:ext cx="4009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高性能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4381500"/>
            <a:ext cx="5334000" cy="17145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>
            <a:noFill/>
          </a:ln>
          <a:effectLst>
            <a:outerShdw blurRad="76200" dist="28575" dir="5400000" algn="ctr" rotWithShape="0">
              <a:srgbClr val="0F172A">
                <a:alpha val="6000"/>
              </a:srgbClr>
            </a:outerShdw>
          </a:effectLst>
        </p:spPr>
      </p:sp>
      <p:sp>
        <p:nvSpPr>
          <p:cNvPr id="35" name="Rectangle 35"/>
          <p:cNvSpPr/>
          <p:nvPr/>
        </p:nvSpPr>
        <p:spPr>
          <a:xfrm>
            <a:off x="571500" y="4381500"/>
            <a:ext cx="5334000" cy="4762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828675" y="4686300"/>
            <a:ext cx="533400" cy="533400"/>
          </a:xfrm>
          <a:prstGeom prst="ellipse">
            <a:avLst/>
          </a:prstGeom>
          <a:solidFill>
            <a:srgbClr val="F59E0B">
              <a:alpha val="10000"/>
            </a:srgbClr>
          </a:solidFill>
          <a:ln>
            <a:noFill/>
          </a:ln>
        </p:spPr>
      </p:sp>
      <p:grpSp>
        <p:nvGrpSpPr>
          <p:cNvPr id="39" name="Group 39"/>
          <p:cNvGrpSpPr/>
          <p:nvPr/>
        </p:nvGrpSpPr>
        <p:grpSpPr>
          <a:xfrm>
            <a:off x="885825" y="4743450"/>
            <a:ext cx="419100" cy="419100"/>
            <a:chOff x="885825" y="4743450"/>
            <a:chExt cx="419100" cy="419100"/>
          </a:xfrm>
        </p:grpSpPr>
        <p:sp>
          <p:nvSpPr>
            <p:cNvPr id="37" name="Freeform 37"/>
            <p:cNvSpPr/>
            <p:nvPr/>
          </p:nvSpPr>
          <p:spPr>
            <a:xfrm>
              <a:off x="885825" y="474345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61938" y="419100"/>
                  </a:moveTo>
                  <a:lnTo>
                    <a:pt x="314325" y="366712"/>
                  </a:lnTo>
                  <a:lnTo>
                    <a:pt x="314325" y="261938"/>
                  </a:lnTo>
                  <a:lnTo>
                    <a:pt x="357725" y="218538"/>
                  </a:lnTo>
                  <a:cubicBezTo>
                    <a:pt x="397021" y="179240"/>
                    <a:pt x="419100" y="125940"/>
                    <a:pt x="419100" y="70364"/>
                  </a:cubicBezTo>
                  <a:lnTo>
                    <a:pt x="419100" y="0"/>
                  </a:lnTo>
                  <a:lnTo>
                    <a:pt x="348736" y="0"/>
                  </a:lnTo>
                  <a:cubicBezTo>
                    <a:pt x="293160" y="0"/>
                    <a:pt x="239860" y="22078"/>
                    <a:pt x="200562" y="61376"/>
                  </a:cubicBezTo>
                  <a:lnTo>
                    <a:pt x="157162" y="104775"/>
                  </a:lnTo>
                  <a:lnTo>
                    <a:pt x="52388" y="104775"/>
                  </a:lnTo>
                  <a:lnTo>
                    <a:pt x="0" y="157162"/>
                  </a:lnTo>
                  <a:lnTo>
                    <a:pt x="261938" y="419100"/>
                  </a:lnTo>
                  <a:close/>
                  <a:moveTo>
                    <a:pt x="275034" y="183356"/>
                  </a:moveTo>
                  <a:cubicBezTo>
                    <a:pt x="296733" y="183356"/>
                    <a:pt x="314325" y="165765"/>
                    <a:pt x="314325" y="144066"/>
                  </a:cubicBezTo>
                  <a:cubicBezTo>
                    <a:pt x="314325" y="122366"/>
                    <a:pt x="296733" y="104775"/>
                    <a:pt x="275034" y="104775"/>
                  </a:cubicBezTo>
                  <a:cubicBezTo>
                    <a:pt x="253335" y="104775"/>
                    <a:pt x="235744" y="122366"/>
                    <a:pt x="235744" y="144066"/>
                  </a:cubicBezTo>
                  <a:cubicBezTo>
                    <a:pt x="235744" y="165765"/>
                    <a:pt x="253335" y="183356"/>
                    <a:pt x="275034" y="183356"/>
                  </a:cubicBez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885825" y="5033483"/>
              <a:ext cx="129067" cy="129067"/>
            </a:xfrm>
            <a:custGeom>
              <a:avLst/>
              <a:gdLst/>
              <a:ahLst/>
              <a:cxnLst/>
              <a:rect l="l" t="t" r="r" b="b"/>
              <a:pathLst>
                <a:path w="129067" h="129067">
                  <a:moveTo>
                    <a:pt x="129067" y="70283"/>
                  </a:moveTo>
                  <a:lnTo>
                    <a:pt x="58785" y="0"/>
                  </a:lnTo>
                  <a:lnTo>
                    <a:pt x="0" y="102873"/>
                  </a:lnTo>
                  <a:lnTo>
                    <a:pt x="26194" y="129067"/>
                  </a:lnTo>
                  <a:lnTo>
                    <a:pt x="129067" y="70283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</p:grpSp>
      <p:sp>
        <p:nvSpPr>
          <p:cNvPr id="40" name="TextBox 40"/>
          <p:cNvSpPr txBox="1"/>
          <p:nvPr/>
        </p:nvSpPr>
        <p:spPr>
          <a:xfrm>
            <a:off x="1503045" y="4755832"/>
            <a:ext cx="186703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11827"/>
                </a:solidFill>
                <a:latin typeface="Georgia"/>
                <a:ea typeface="SimHei"/>
                <a:cs typeface="Georgia"/>
              </a:rPr>
              <a:t>Android 原生加速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08760" y="5090160"/>
            <a:ext cx="258279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UTS 原生插件，PBKDF2 60 万次迭代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508760" y="5347335"/>
            <a:ext cx="25667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纯 JS 数秒 → 原生毫秒级，体验飞跃</a:t>
            </a:r>
          </a:p>
        </p:txBody>
      </p:sp>
      <p:sp>
        <p:nvSpPr>
          <p:cNvPr id="43" name="Rectangle 43"/>
          <p:cNvSpPr/>
          <p:nvPr/>
        </p:nvSpPr>
        <p:spPr>
          <a:xfrm>
            <a:off x="1524000" y="5667375"/>
            <a:ext cx="685800" cy="228600"/>
          </a:xfrm>
          <a:prstGeom prst="roundRect">
            <a:avLst>
              <a:gd name="adj" fmla="val 50000"/>
            </a:avLst>
          </a:prstGeom>
          <a:solidFill>
            <a:srgbClr val="F59E0B">
              <a:alpha val="10000"/>
            </a:srgbClr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729454" y="572262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极速</a:t>
            </a:r>
          </a:p>
        </p:txBody>
      </p:sp>
      <p:sp>
        <p:nvSpPr>
          <p:cNvPr id="45" name="Rectangle 45"/>
          <p:cNvSpPr/>
          <p:nvPr/>
        </p:nvSpPr>
        <p:spPr>
          <a:xfrm>
            <a:off x="6096000" y="4381500"/>
            <a:ext cx="5334000" cy="17145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>
            <a:noFill/>
          </a:ln>
          <a:effectLst>
            <a:outerShdw blurRad="76200" dist="28575" dir="5400000" algn="ctr" rotWithShape="0">
              <a:srgbClr val="0F172A">
                <a:alpha val="6000"/>
              </a:srgbClr>
            </a:outerShdw>
          </a:effectLst>
        </p:spPr>
      </p:sp>
      <p:sp>
        <p:nvSpPr>
          <p:cNvPr id="46" name="Rectangle 46"/>
          <p:cNvSpPr/>
          <p:nvPr/>
        </p:nvSpPr>
        <p:spPr>
          <a:xfrm>
            <a:off x="6096000" y="4381500"/>
            <a:ext cx="5334000" cy="47625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47" name="Ellipse 47"/>
          <p:cNvSpPr/>
          <p:nvPr/>
        </p:nvSpPr>
        <p:spPr>
          <a:xfrm>
            <a:off x="6353175" y="4686300"/>
            <a:ext cx="533400" cy="533400"/>
          </a:xfrm>
          <a:prstGeom prst="ellipse">
            <a:avLst/>
          </a:prstGeom>
          <a:solidFill>
            <a:srgbClr val="16A34A">
              <a:alpha val="10000"/>
            </a:srgbClr>
          </a:solidFill>
          <a:ln>
            <a:noFill/>
          </a:ln>
        </p:spPr>
      </p:sp>
      <p:sp>
        <p:nvSpPr>
          <p:cNvPr id="48" name="Freeform 48"/>
          <p:cNvSpPr/>
          <p:nvPr/>
        </p:nvSpPr>
        <p:spPr>
          <a:xfrm>
            <a:off x="6436519" y="4743450"/>
            <a:ext cx="366712" cy="419100"/>
          </a:xfrm>
          <a:custGeom>
            <a:avLst/>
            <a:gdLst/>
            <a:ahLst/>
            <a:cxnLst/>
            <a:rect l="l" t="t" r="r" b="b"/>
            <a:pathLst>
              <a:path w="366712" h="419100">
                <a:moveTo>
                  <a:pt x="183356" y="419100"/>
                </a:moveTo>
                <a:lnTo>
                  <a:pt x="87751" y="350810"/>
                </a:lnTo>
                <a:cubicBezTo>
                  <a:pt x="32683" y="311475"/>
                  <a:pt x="0" y="247968"/>
                  <a:pt x="0" y="180293"/>
                </a:cubicBezTo>
                <a:lnTo>
                  <a:pt x="0" y="78581"/>
                </a:lnTo>
                <a:lnTo>
                  <a:pt x="183356" y="0"/>
                </a:lnTo>
                <a:lnTo>
                  <a:pt x="366712" y="78581"/>
                </a:lnTo>
                <a:lnTo>
                  <a:pt x="366712" y="180293"/>
                </a:lnTo>
                <a:cubicBezTo>
                  <a:pt x="366712" y="247968"/>
                  <a:pt x="334031" y="311475"/>
                  <a:pt x="278961" y="350810"/>
                </a:cubicBezTo>
                <a:lnTo>
                  <a:pt x="183356" y="419100"/>
                </a:lnTo>
                <a:close/>
                <a:moveTo>
                  <a:pt x="293556" y="149491"/>
                </a:moveTo>
                <a:lnTo>
                  <a:pt x="256513" y="112447"/>
                </a:lnTo>
                <a:lnTo>
                  <a:pt x="157162" y="211797"/>
                </a:lnTo>
                <a:lnTo>
                  <a:pt x="110200" y="164834"/>
                </a:lnTo>
                <a:lnTo>
                  <a:pt x="73156" y="201878"/>
                </a:lnTo>
                <a:lnTo>
                  <a:pt x="157162" y="285884"/>
                </a:lnTo>
                <a:lnTo>
                  <a:pt x="293556" y="149491"/>
                </a:ln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7027545" y="4755832"/>
            <a:ext cx="20287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11827"/>
                </a:solidFill>
                <a:latin typeface="Georgia"/>
                <a:ea typeface="SimHei"/>
                <a:cs typeface="Georgia"/>
              </a:rPr>
              <a:t>X25519 Sealed Box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033260" y="5090160"/>
            <a:ext cx="2750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认证改密封盒封装，上送密文后端解封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033260" y="5347335"/>
            <a:ext cx="29108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服务器永不明文接触密码，真正的零知识</a:t>
            </a:r>
          </a:p>
        </p:txBody>
      </p:sp>
      <p:sp>
        <p:nvSpPr>
          <p:cNvPr id="52" name="Rectangle 52"/>
          <p:cNvSpPr/>
          <p:nvPr/>
        </p:nvSpPr>
        <p:spPr>
          <a:xfrm>
            <a:off x="7048500" y="5667375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16A34A">
              <a:alpha val="10000"/>
            </a:srgbClr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7229046" y="5722620"/>
            <a:ext cx="4009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零知识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667554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0EA5A4"/>
              </a:gs>
            </a:gsLst>
            <a:lin ang="54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332144" y="327660"/>
            <a:ext cx="352771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111827"/>
                </a:solidFill>
                <a:latin typeface="Georgia"/>
                <a:ea typeface="SimHei"/>
                <a:cs typeface="Georgia"/>
              </a:rPr>
              <a:t>免费增值 + 订阅扩展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080510" y="775335"/>
            <a:ext cx="40309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基础功能永久免费建立用户基数，进阶功能驱动订阅收入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238250"/>
            <a:ext cx="3524250" cy="41910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>
            <a:noFill/>
          </a:ln>
          <a:effectLst>
            <a:outerShdw blurRad="76200" dist="28575" dir="5400000" algn="ctr" rotWithShape="0">
              <a:srgbClr val="0F172A">
                <a:alpha val="6000"/>
              </a:srgbClr>
            </a:outerShdw>
          </a:effectLst>
        </p:spPr>
      </p:sp>
      <p:sp>
        <p:nvSpPr>
          <p:cNvPr id="7" name="Rectangle 7"/>
          <p:cNvSpPr/>
          <p:nvPr/>
        </p:nvSpPr>
        <p:spPr>
          <a:xfrm>
            <a:off x="571500" y="1238250"/>
            <a:ext cx="3524250" cy="47625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1990725" y="1562100"/>
            <a:ext cx="685800" cy="685800"/>
          </a:xfrm>
          <a:prstGeom prst="ellipse">
            <a:avLst/>
          </a:prstGeom>
          <a:solidFill>
            <a:srgbClr val="16A34A">
              <a:alpha val="10000"/>
            </a:srgbClr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2066925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533400"/>
                </a:moveTo>
                <a:cubicBezTo>
                  <a:pt x="413995" y="533400"/>
                  <a:pt x="533400" y="413995"/>
                  <a:pt x="533400" y="266700"/>
                </a:cubicBezTo>
                <a:cubicBezTo>
                  <a:pt x="533400" y="119406"/>
                  <a:pt x="413995" y="0"/>
                  <a:pt x="266700" y="0"/>
                </a:cubicBezTo>
                <a:cubicBezTo>
                  <a:pt x="119406" y="0"/>
                  <a:pt x="0" y="119406"/>
                  <a:pt x="0" y="266700"/>
                </a:cubicBezTo>
                <a:cubicBezTo>
                  <a:pt x="0" y="413995"/>
                  <a:pt x="119406" y="533400"/>
                  <a:pt x="266700" y="533400"/>
                </a:cubicBezTo>
                <a:close/>
                <a:moveTo>
                  <a:pt x="423623" y="190261"/>
                </a:moveTo>
                <a:lnTo>
                  <a:pt x="376477" y="143114"/>
                </a:lnTo>
                <a:lnTo>
                  <a:pt x="216694" y="302898"/>
                </a:lnTo>
                <a:lnTo>
                  <a:pt x="156923" y="243127"/>
                </a:lnTo>
                <a:lnTo>
                  <a:pt x="109777" y="290273"/>
                </a:lnTo>
                <a:lnTo>
                  <a:pt x="216694" y="397190"/>
                </a:lnTo>
                <a:lnTo>
                  <a:pt x="423623" y="190261"/>
                </a:ln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865900" y="2345055"/>
            <a:ext cx="93545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11827"/>
                </a:solidFill>
                <a:latin typeface="Georgia"/>
                <a:ea typeface="SimHei"/>
                <a:cs typeface="Georgia"/>
              </a:rPr>
              <a:t>免费层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30312" y="2727960"/>
            <a:ext cx="12066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v1.0 · 永久免费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7260" y="3156585"/>
            <a:ext cx="233476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✓ 安全认证（主密码+生物识别）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7260" y="3442335"/>
            <a:ext cx="233476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✓ 密码库（增删改查+一键复制）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7260" y="3728085"/>
            <a:ext cx="11266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✓ 强密码生成器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7260" y="4013835"/>
            <a:ext cx="153466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✓ 本地加密备份/恢复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7260" y="4299585"/>
            <a:ext cx="16946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✓ 健康度检测+一键修复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7260" y="4585335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✓ 恢复码+安全问题</a:t>
            </a:r>
          </a:p>
        </p:txBody>
      </p:sp>
      <p:sp>
        <p:nvSpPr>
          <p:cNvPr id="18" name="Rectangle 18"/>
          <p:cNvSpPr/>
          <p:nvPr/>
        </p:nvSpPr>
        <p:spPr>
          <a:xfrm>
            <a:off x="1619250" y="4953000"/>
            <a:ext cx="1428750" cy="4191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2199061" y="5057775"/>
            <a:ext cx="2691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Georgia"/>
                <a:ea typeface="SimHei"/>
                <a:cs typeface="Georgia"/>
              </a:rPr>
              <a:t>¥0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333875" y="1238250"/>
            <a:ext cx="3524250" cy="41910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>
            <a:noFill/>
          </a:ln>
          <a:effectLst>
            <a:outerShdw blurRad="76200" dist="28575" dir="5400000" algn="ctr" rotWithShape="0">
              <a:srgbClr val="0F172A">
                <a:alpha val="6000"/>
              </a:srgbClr>
            </a:outerShdw>
          </a:effectLst>
        </p:spPr>
      </p:sp>
      <p:sp>
        <p:nvSpPr>
          <p:cNvPr id="21" name="Rectangle 21"/>
          <p:cNvSpPr/>
          <p:nvPr/>
        </p:nvSpPr>
        <p:spPr>
          <a:xfrm>
            <a:off x="4333875" y="1238250"/>
            <a:ext cx="3524250" cy="476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6762750" y="1143000"/>
            <a:ext cx="762000" cy="2286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026422" y="1206341"/>
            <a:ext cx="23465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PRO</a:t>
            </a:r>
          </a:p>
        </p:txBody>
      </p:sp>
      <p:sp>
        <p:nvSpPr>
          <p:cNvPr id="24" name="Ellipse 24"/>
          <p:cNvSpPr/>
          <p:nvPr/>
        </p:nvSpPr>
        <p:spPr>
          <a:xfrm>
            <a:off x="5753100" y="1562100"/>
            <a:ext cx="685800" cy="685800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</p:sp>
      <p:sp>
        <p:nvSpPr>
          <p:cNvPr id="25" name="Freeform 25"/>
          <p:cNvSpPr/>
          <p:nvPr/>
        </p:nvSpPr>
        <p:spPr>
          <a:xfrm>
            <a:off x="5862638" y="1638300"/>
            <a:ext cx="466725" cy="533400"/>
          </a:xfrm>
          <a:custGeom>
            <a:avLst/>
            <a:gdLst/>
            <a:ahLst/>
            <a:cxnLst/>
            <a:rect l="l" t="t" r="r" b="b"/>
            <a:pathLst>
              <a:path w="466725" h="533400">
                <a:moveTo>
                  <a:pt x="233362" y="533400"/>
                </a:moveTo>
                <a:lnTo>
                  <a:pt x="111684" y="446486"/>
                </a:lnTo>
                <a:cubicBezTo>
                  <a:pt x="41596" y="396423"/>
                  <a:pt x="0" y="315595"/>
                  <a:pt x="0" y="229464"/>
                </a:cubicBezTo>
                <a:lnTo>
                  <a:pt x="0" y="100012"/>
                </a:lnTo>
                <a:lnTo>
                  <a:pt x="233362" y="0"/>
                </a:lnTo>
                <a:lnTo>
                  <a:pt x="466725" y="100012"/>
                </a:lnTo>
                <a:lnTo>
                  <a:pt x="466725" y="229464"/>
                </a:lnTo>
                <a:cubicBezTo>
                  <a:pt x="466725" y="315595"/>
                  <a:pt x="425130" y="396423"/>
                  <a:pt x="355041" y="446486"/>
                </a:cubicBezTo>
                <a:lnTo>
                  <a:pt x="233362" y="533400"/>
                </a:lnTo>
                <a:close/>
                <a:moveTo>
                  <a:pt x="373617" y="190261"/>
                </a:moveTo>
                <a:lnTo>
                  <a:pt x="326471" y="143114"/>
                </a:lnTo>
                <a:lnTo>
                  <a:pt x="200025" y="269560"/>
                </a:lnTo>
                <a:lnTo>
                  <a:pt x="140255" y="209789"/>
                </a:lnTo>
                <a:lnTo>
                  <a:pt x="93108" y="256936"/>
                </a:lnTo>
                <a:lnTo>
                  <a:pt x="200025" y="363852"/>
                </a:lnTo>
                <a:lnTo>
                  <a:pt x="373617" y="190261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5628275" y="2345055"/>
            <a:ext cx="93545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11827"/>
                </a:solidFill>
                <a:latin typeface="Georgia"/>
                <a:ea typeface="SimHei"/>
                <a:cs typeface="Georgia"/>
              </a:rPr>
              <a:t>订阅层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404676" y="2727960"/>
            <a:ext cx="13826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v2.0+ · 月付/年付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699635" y="3156585"/>
            <a:ext cx="9665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✓ 加密云备份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699635" y="3442335"/>
            <a:ext cx="9665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✓ 跨设备同步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699635" y="3728085"/>
            <a:ext cx="11266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✓ 高级健康报告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699635" y="4013835"/>
            <a:ext cx="12866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✓ 系统级自动填充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699635" y="4299585"/>
            <a:ext cx="11266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✓ 优先技术支持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699635" y="4585335"/>
            <a:ext cx="12866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+ 免费层全部功能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381625" y="4953000"/>
            <a:ext cx="1428750" cy="419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776417" y="5073968"/>
            <a:ext cx="63916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Georgia"/>
                <a:ea typeface="SimHei"/>
                <a:cs typeface="Georgia"/>
              </a:rPr>
              <a:t>¥12/月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096250" y="1238250"/>
            <a:ext cx="3524250" cy="41910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>
            <a:noFill/>
          </a:ln>
          <a:effectLst>
            <a:outerShdw blurRad="76200" dist="28575" dir="5400000" algn="ctr" rotWithShape="0">
              <a:srgbClr val="0F172A">
                <a:alpha val="6000"/>
              </a:srgbClr>
            </a:outerShdw>
          </a:effectLst>
        </p:spPr>
      </p:sp>
      <p:sp>
        <p:nvSpPr>
          <p:cNvPr id="37" name="Rectangle 37"/>
          <p:cNvSpPr/>
          <p:nvPr/>
        </p:nvSpPr>
        <p:spPr>
          <a:xfrm>
            <a:off x="8096250" y="1238250"/>
            <a:ext cx="3524250" cy="47625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9515475" y="1562100"/>
            <a:ext cx="685800" cy="685800"/>
          </a:xfrm>
          <a:prstGeom prst="ellipse">
            <a:avLst/>
          </a:prstGeom>
          <a:solidFill>
            <a:srgbClr val="0EA5A4">
              <a:alpha val="10000"/>
            </a:srgbClr>
          </a:solidFill>
          <a:ln>
            <a:noFill/>
          </a:ln>
        </p:spPr>
      </p:sp>
      <p:grpSp>
        <p:nvGrpSpPr>
          <p:cNvPr id="42" name="Group 42"/>
          <p:cNvGrpSpPr/>
          <p:nvPr/>
        </p:nvGrpSpPr>
        <p:grpSpPr>
          <a:xfrm>
            <a:off x="9591675" y="1671638"/>
            <a:ext cx="533400" cy="466725"/>
            <a:chOff x="9591675" y="1671638"/>
            <a:chExt cx="533400" cy="466725"/>
          </a:xfrm>
        </p:grpSpPr>
        <p:sp>
          <p:nvSpPr>
            <p:cNvPr id="39" name="Freeform 39"/>
            <p:cNvSpPr/>
            <p:nvPr/>
          </p:nvSpPr>
          <p:spPr>
            <a:xfrm>
              <a:off x="9991725" y="1671638"/>
              <a:ext cx="133350" cy="466725"/>
            </a:xfrm>
            <a:custGeom>
              <a:avLst/>
              <a:gdLst/>
              <a:ahLst/>
              <a:cxnLst/>
              <a:rect l="l" t="t" r="r" b="b"/>
              <a:pathLst>
                <a:path w="133350" h="466725">
                  <a:moveTo>
                    <a:pt x="133350" y="0"/>
                  </a:moveTo>
                  <a:lnTo>
                    <a:pt x="0" y="0"/>
                  </a:lnTo>
                  <a:lnTo>
                    <a:pt x="0" y="466725"/>
                  </a:lnTo>
                  <a:lnTo>
                    <a:pt x="133350" y="466725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0EA5A4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9791700" y="1804988"/>
              <a:ext cx="133350" cy="333375"/>
            </a:xfrm>
            <a:custGeom>
              <a:avLst/>
              <a:gdLst/>
              <a:ahLst/>
              <a:cxnLst/>
              <a:rect l="l" t="t" r="r" b="b"/>
              <a:pathLst>
                <a:path w="133350" h="333375">
                  <a:moveTo>
                    <a:pt x="0" y="0"/>
                  </a:moveTo>
                  <a:lnTo>
                    <a:pt x="133350" y="0"/>
                  </a:lnTo>
                  <a:lnTo>
                    <a:pt x="133350" y="333375"/>
                  </a:lnTo>
                  <a:lnTo>
                    <a:pt x="0" y="3333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A5A4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9591675" y="1938338"/>
              <a:ext cx="133350" cy="200025"/>
            </a:xfrm>
            <a:custGeom>
              <a:avLst/>
              <a:gdLst/>
              <a:ahLst/>
              <a:cxnLst/>
              <a:rect l="l" t="t" r="r" b="b"/>
              <a:pathLst>
                <a:path w="133350" h="200025">
                  <a:moveTo>
                    <a:pt x="0" y="0"/>
                  </a:moveTo>
                  <a:lnTo>
                    <a:pt x="133350" y="0"/>
                  </a:lnTo>
                  <a:lnTo>
                    <a:pt x="133350" y="200025"/>
                  </a:lnTo>
                  <a:lnTo>
                    <a:pt x="0" y="200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A5A4"/>
            </a:solidFill>
            <a:ln>
              <a:noFill/>
            </a:ln>
          </p:spPr>
        </p:sp>
      </p:grpSp>
      <p:sp>
        <p:nvSpPr>
          <p:cNvPr id="43" name="TextBox 43"/>
          <p:cNvSpPr txBox="1"/>
          <p:nvPr/>
        </p:nvSpPr>
        <p:spPr>
          <a:xfrm>
            <a:off x="9243632" y="234505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11827"/>
                </a:solidFill>
                <a:latin typeface="Georgia"/>
                <a:ea typeface="SimHei"/>
                <a:cs typeface="Georgia"/>
              </a:rPr>
              <a:t>增长目标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283389" y="2754630"/>
            <a:ext cx="114997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50万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365480" y="3296602"/>
            <a:ext cx="9857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6 个月累计下载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283389" y="3564255"/>
            <a:ext cx="114997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0EA5A4"/>
                </a:solidFill>
                <a:latin typeface="Consolas"/>
                <a:ea typeface="Microsoft YaHei"/>
                <a:cs typeface="Consolas"/>
              </a:rPr>
              <a:t>10万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565005" y="410622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月活用户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346397" y="4373880"/>
            <a:ext cx="1023957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59E0B"/>
                </a:solidFill>
                <a:latin typeface="Consolas"/>
                <a:ea typeface="Microsoft YaHei"/>
                <a:cs typeface="Consolas"/>
              </a:rPr>
              <a:t>&gt;5%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494996" y="4915852"/>
            <a:ext cx="7267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订阅转化率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667554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0EA5A4"/>
              </a:gs>
            </a:gsLst>
            <a:lin ang="54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457200"/>
            <a:ext cx="38100" cy="533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14375" y="442912"/>
            <a:ext cx="240419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11827"/>
                </a:solidFill>
                <a:latin typeface="Georgia"/>
                <a:ea typeface="SimHei"/>
                <a:cs typeface="Georgia"/>
              </a:rPr>
              <a:t>从 MVP 到平台化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0568" y="828199"/>
            <a:ext cx="18199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产品版本路线图 · 四大里程碑</a:t>
            </a:r>
          </a:p>
        </p:txBody>
      </p:sp>
      <p:sp>
        <p:nvSpPr>
          <p:cNvPr id="7" name="Rectangle 7"/>
          <p:cNvSpPr/>
          <p:nvPr/>
        </p:nvSpPr>
        <p:spPr>
          <a:xfrm>
            <a:off x="9620250" y="533400"/>
            <a:ext cx="200025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620250" y="533400"/>
            <a:ext cx="495300" cy="457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9829800" y="533400"/>
            <a:ext cx="19050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718573" y="705802"/>
            <a:ext cx="2986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25%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936944" y="705802"/>
            <a:ext cx="3574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1 / 4</a:t>
            </a:r>
          </a:p>
        </p:txBody>
      </p:sp>
      <p:sp>
        <p:nvSpPr>
          <p:cNvPr id="12" name="Line 12"/>
          <p:cNvSpPr/>
          <p:nvPr/>
        </p:nvSpPr>
        <p:spPr>
          <a:xfrm>
            <a:off x="1143000" y="34290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0" cap="rnd">
            <a:solidFill>
              <a:srgbClr val="E2E8F0"/>
            </a:solidFill>
          </a:ln>
        </p:spPr>
      </p:sp>
      <p:sp>
        <p:nvSpPr>
          <p:cNvPr id="13" name="Line 13"/>
          <p:cNvSpPr/>
          <p:nvPr/>
        </p:nvSpPr>
        <p:spPr>
          <a:xfrm>
            <a:off x="1143000" y="3429000"/>
            <a:ext cx="2381250" cy="9525"/>
          </a:xfrm>
          <a:custGeom>
            <a:avLst/>
            <a:gdLst/>
            <a:ahLst/>
            <a:cxnLst/>
            <a:rect l="l" t="t" r="r" b="b"/>
            <a:pathLst>
              <a:path w="2381250" h="9525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/>
          <a:ln w="95250" cap="rnd">
            <a:gradFill>
              <a:gsLst>
                <a:gs pos="0">
                  <a:srgbClr val="16A34A"/>
                </a:gs>
                <a:gs pos="50000">
                  <a:srgbClr val="16A34A"/>
                </a:gs>
                <a:gs pos="100000">
                  <a:srgbClr val="2563EB"/>
                </a:gs>
              </a:gsLst>
              <a:lin ang="0" scaled="1"/>
            </a:gradFill>
          </a:ln>
        </p:spPr>
      </p:sp>
      <p:sp>
        <p:nvSpPr>
          <p:cNvPr id="14" name="Line 14"/>
          <p:cNvSpPr/>
          <p:nvPr/>
        </p:nvSpPr>
        <p:spPr>
          <a:xfrm>
            <a:off x="1524000" y="285750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9050">
            <a:solidFill>
              <a:srgbClr val="16A34A">
                <a:alpha val="60000"/>
              </a:srgbClr>
            </a:solidFill>
            <a:prstDash val="dash"/>
          </a:ln>
        </p:spPr>
      </p:sp>
      <p:sp>
        <p:nvSpPr>
          <p:cNvPr id="15" name="Ellipse 15"/>
          <p:cNvSpPr/>
          <p:nvPr/>
        </p:nvSpPr>
        <p:spPr>
          <a:xfrm>
            <a:off x="1276350" y="3181350"/>
            <a:ext cx="495300" cy="495300"/>
          </a:xfrm>
          <a:prstGeom prst="ellipse">
            <a:avLst/>
          </a:prstGeom>
          <a:solidFill>
            <a:srgbClr val="16A34A">
              <a:alpha val="12000"/>
            </a:srgbClr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1362075" y="3267075"/>
            <a:ext cx="323850" cy="32385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17" name="Freeform 17"/>
          <p:cNvSpPr/>
          <p:nvPr/>
        </p:nvSpPr>
        <p:spPr>
          <a:xfrm>
            <a:off x="1457325" y="3381375"/>
            <a:ext cx="133350" cy="95250"/>
          </a:xfrm>
          <a:custGeom>
            <a:avLst/>
            <a:gdLst/>
            <a:ahLst/>
            <a:cxnLst/>
            <a:rect l="l" t="t" r="r" b="b"/>
            <a:pathLst>
              <a:path w="133350" h="95250">
                <a:moveTo>
                  <a:pt x="0" y="47625"/>
                </a:moveTo>
                <a:lnTo>
                  <a:pt x="47625" y="95250"/>
                </a:lnTo>
                <a:lnTo>
                  <a:pt x="133350" y="0"/>
                </a:lnTo>
              </a:path>
            </a:pathLst>
          </a:custGeom>
          <a:noFill/>
          <a:ln w="28575" cap="rnd">
            <a:solidFill>
              <a:srgbClr val="FFFFFF"/>
            </a:solidFill>
            <a:round/>
          </a:ln>
        </p:spPr>
      </p:sp>
      <p:sp>
        <p:nvSpPr>
          <p:cNvPr id="18" name="Line 18"/>
          <p:cNvSpPr/>
          <p:nvPr/>
        </p:nvSpPr>
        <p:spPr>
          <a:xfrm>
            <a:off x="4286250" y="3619500"/>
            <a:ext cx="9525" cy="342900"/>
          </a:xfrm>
          <a:custGeom>
            <a:avLst/>
            <a:gdLst/>
            <a:ahLst/>
            <a:cxnLst/>
            <a:rect l="l" t="t" r="r" b="b"/>
            <a:pathLst>
              <a:path w="952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19" name="Ellipse 19"/>
          <p:cNvSpPr/>
          <p:nvPr/>
        </p:nvSpPr>
        <p:spPr>
          <a:xfrm>
            <a:off x="4076700" y="3219450"/>
            <a:ext cx="419100" cy="419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4162425" y="3305175"/>
            <a:ext cx="247650" cy="247650"/>
          </a:xfrm>
          <a:prstGeom prst="ellipse">
            <a:avLst/>
          </a:prstGeom>
          <a:solidFill>
            <a:srgbClr val="FFFFFF"/>
          </a:solidFill>
          <a:ln w="23812">
            <a:solidFill>
              <a:srgbClr val="94A3B8"/>
            </a:solidFill>
          </a:ln>
        </p:spPr>
      </p:sp>
      <p:sp>
        <p:nvSpPr>
          <p:cNvPr id="21" name="Ellipse 21"/>
          <p:cNvSpPr/>
          <p:nvPr/>
        </p:nvSpPr>
        <p:spPr>
          <a:xfrm>
            <a:off x="4257675" y="3400425"/>
            <a:ext cx="57150" cy="5715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</p:sp>
      <p:sp>
        <p:nvSpPr>
          <p:cNvPr id="22" name="Line 22"/>
          <p:cNvSpPr/>
          <p:nvPr/>
        </p:nvSpPr>
        <p:spPr>
          <a:xfrm>
            <a:off x="7048500" y="285750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23" name="Ellipse 23"/>
          <p:cNvSpPr/>
          <p:nvPr/>
        </p:nvSpPr>
        <p:spPr>
          <a:xfrm>
            <a:off x="6838950" y="3219450"/>
            <a:ext cx="419100" cy="419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6924675" y="3305175"/>
            <a:ext cx="247650" cy="247650"/>
          </a:xfrm>
          <a:prstGeom prst="ellipse">
            <a:avLst/>
          </a:prstGeom>
          <a:solidFill>
            <a:srgbClr val="FFFFFF"/>
          </a:solidFill>
          <a:ln w="23812">
            <a:solidFill>
              <a:srgbClr val="94A3B8"/>
            </a:solidFill>
          </a:ln>
        </p:spPr>
      </p:sp>
      <p:sp>
        <p:nvSpPr>
          <p:cNvPr id="25" name="Ellipse 25"/>
          <p:cNvSpPr/>
          <p:nvPr/>
        </p:nvSpPr>
        <p:spPr>
          <a:xfrm>
            <a:off x="7019925" y="3400425"/>
            <a:ext cx="57150" cy="5715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</p:sp>
      <p:sp>
        <p:nvSpPr>
          <p:cNvPr id="26" name="Line 26"/>
          <p:cNvSpPr/>
          <p:nvPr/>
        </p:nvSpPr>
        <p:spPr>
          <a:xfrm>
            <a:off x="9810750" y="3619500"/>
            <a:ext cx="9525" cy="342900"/>
          </a:xfrm>
          <a:custGeom>
            <a:avLst/>
            <a:gdLst/>
            <a:ahLst/>
            <a:cxnLst/>
            <a:rect l="l" t="t" r="r" b="b"/>
            <a:pathLst>
              <a:path w="952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27" name="Ellipse 27"/>
          <p:cNvSpPr/>
          <p:nvPr/>
        </p:nvSpPr>
        <p:spPr>
          <a:xfrm>
            <a:off x="9601200" y="3219450"/>
            <a:ext cx="419100" cy="419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9686925" y="3305175"/>
            <a:ext cx="247650" cy="247650"/>
          </a:xfrm>
          <a:prstGeom prst="ellipse">
            <a:avLst/>
          </a:prstGeom>
          <a:solidFill>
            <a:srgbClr val="FFFFFF"/>
          </a:solidFill>
          <a:ln w="23812">
            <a:solidFill>
              <a:srgbClr val="94A3B8"/>
            </a:solidFill>
          </a:ln>
        </p:spPr>
      </p:sp>
      <p:sp>
        <p:nvSpPr>
          <p:cNvPr id="29" name="Ellipse 29"/>
          <p:cNvSpPr/>
          <p:nvPr/>
        </p:nvSpPr>
        <p:spPr>
          <a:xfrm>
            <a:off x="9782175" y="3400425"/>
            <a:ext cx="57150" cy="5715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590550" y="1485900"/>
            <a:ext cx="186690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>
            <a:noFill/>
          </a:ln>
          <a:effectLst>
            <a:outerShdw blurRad="76200" dist="28575" dir="5400000" algn="ctr" rotWithShape="0">
              <a:srgbClr val="0F172A">
                <a:alpha val="6000"/>
              </a:srgbClr>
            </a:outerShdw>
          </a:effectLst>
        </p:spPr>
      </p:sp>
      <p:sp>
        <p:nvSpPr>
          <p:cNvPr id="31" name="Freeform 31"/>
          <p:cNvSpPr/>
          <p:nvPr/>
        </p:nvSpPr>
        <p:spPr>
          <a:xfrm>
            <a:off x="590550" y="1485900"/>
            <a:ext cx="1866900" cy="381000"/>
          </a:xfrm>
          <a:custGeom>
            <a:avLst/>
            <a:gdLst/>
            <a:ahLst/>
            <a:cxnLst/>
            <a:rect l="l" t="t" r="r" b="b"/>
            <a:pathLst>
              <a:path w="1866900" h="381000">
                <a:moveTo>
                  <a:pt x="114300" y="0"/>
                </a:moveTo>
                <a:lnTo>
                  <a:pt x="1752600" y="0"/>
                </a:lnTo>
                <a:cubicBezTo>
                  <a:pt x="1815726" y="0"/>
                  <a:pt x="1866900" y="51174"/>
                  <a:pt x="1866900" y="114300"/>
                </a:cubicBezTo>
                <a:lnTo>
                  <a:pt x="1866900" y="381000"/>
                </a:lnTo>
                <a:lnTo>
                  <a:pt x="0" y="381000"/>
                </a:ln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214693" y="1599724"/>
            <a:ext cx="6186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v1.0 MVP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72718" y="201358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11827"/>
                </a:solidFill>
                <a:latin typeface="Georgia"/>
                <a:ea typeface="SimHei"/>
                <a:cs typeface="Georgia"/>
              </a:rPr>
              <a:t>核心闭环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96266" y="2275999"/>
            <a:ext cx="10554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安全认证+密码库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58723" y="2466499"/>
            <a:ext cx="11305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+生成器+本地备份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99868" y="2665095"/>
            <a:ext cx="8482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+开源核心加密</a:t>
            </a:r>
          </a:p>
        </p:txBody>
      </p:sp>
      <p:sp>
        <p:nvSpPr>
          <p:cNvPr id="37" name="Ellipse 37"/>
          <p:cNvSpPr/>
          <p:nvPr/>
        </p:nvSpPr>
        <p:spPr>
          <a:xfrm>
            <a:off x="2238375" y="2638425"/>
            <a:ext cx="171450" cy="17145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8" name="Freeform 38"/>
          <p:cNvSpPr/>
          <p:nvPr/>
        </p:nvSpPr>
        <p:spPr>
          <a:xfrm>
            <a:off x="2286000" y="2695575"/>
            <a:ext cx="76200" cy="57150"/>
          </a:xfrm>
          <a:custGeom>
            <a:avLst/>
            <a:gdLst/>
            <a:ahLst/>
            <a:cxnLst/>
            <a:rect l="l" t="t" r="r" b="b"/>
            <a:pathLst>
              <a:path w="76200" h="57150">
                <a:moveTo>
                  <a:pt x="0" y="28575"/>
                </a:moveTo>
                <a:lnTo>
                  <a:pt x="28575" y="57150"/>
                </a:lnTo>
                <a:lnTo>
                  <a:pt x="76200" y="0"/>
                </a:lnTo>
              </a:path>
            </a:pathLst>
          </a:custGeom>
          <a:noFill/>
          <a:ln w="19050" cap="rnd">
            <a:solidFill>
              <a:srgbClr val="FFFFFF"/>
            </a:solidFill>
            <a:round/>
          </a:ln>
        </p:spPr>
      </p:sp>
      <p:sp>
        <p:nvSpPr>
          <p:cNvPr id="39" name="Rectangle 39"/>
          <p:cNvSpPr/>
          <p:nvPr/>
        </p:nvSpPr>
        <p:spPr>
          <a:xfrm>
            <a:off x="3352800" y="3962400"/>
            <a:ext cx="186690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288">
            <a:solidFill>
              <a:srgbClr val="E2E8F0"/>
            </a:solidFill>
            <a:custDash>
              <a:ds d="400000" sp="266666"/>
            </a:custDash>
          </a:ln>
        </p:spPr>
      </p:sp>
      <p:sp>
        <p:nvSpPr>
          <p:cNvPr id="40" name="Freeform 40"/>
          <p:cNvSpPr/>
          <p:nvPr/>
        </p:nvSpPr>
        <p:spPr>
          <a:xfrm>
            <a:off x="3352800" y="4953000"/>
            <a:ext cx="1866900" cy="381000"/>
          </a:xfrm>
          <a:custGeom>
            <a:avLst/>
            <a:gdLst/>
            <a:ahLst/>
            <a:cxnLst/>
            <a:rect l="l" t="t" r="r" b="b"/>
            <a:pathLst>
              <a:path w="1866900" h="381000">
                <a:moveTo>
                  <a:pt x="0" y="266700"/>
                </a:moveTo>
                <a:lnTo>
                  <a:pt x="0" y="266700"/>
                </a:lnTo>
                <a:cubicBezTo>
                  <a:pt x="0" y="329826"/>
                  <a:pt x="51174" y="381000"/>
                  <a:pt x="114300" y="381000"/>
                </a:cubicBezTo>
                <a:lnTo>
                  <a:pt x="1752600" y="381000"/>
                </a:lnTo>
                <a:cubicBezTo>
                  <a:pt x="1815726" y="381000"/>
                  <a:pt x="1866900" y="329826"/>
                  <a:pt x="1866900" y="266700"/>
                </a:cubicBezTo>
                <a:lnTo>
                  <a:pt x="18669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4123699" y="5038249"/>
            <a:ext cx="3251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v1.1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934968" y="417576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34155"/>
                </a:solidFill>
                <a:latin typeface="Georgia"/>
                <a:ea typeface="SimHei"/>
                <a:cs typeface="Georgia"/>
              </a:rPr>
              <a:t>体验完善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758516" y="4428649"/>
            <a:ext cx="10554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分类管理+回收站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826774" y="4619149"/>
            <a:ext cx="9189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+自动锁定设置</a:t>
            </a:r>
          </a:p>
        </p:txBody>
      </p:sp>
      <p:sp>
        <p:nvSpPr>
          <p:cNvPr id="45" name="Rectangle 45"/>
          <p:cNvSpPr/>
          <p:nvPr/>
        </p:nvSpPr>
        <p:spPr>
          <a:xfrm>
            <a:off x="6115050" y="1485900"/>
            <a:ext cx="186690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288">
            <a:solidFill>
              <a:srgbClr val="E2E8F0"/>
            </a:solidFill>
            <a:custDash>
              <a:ds d="400000" sp="266666"/>
            </a:custDash>
          </a:ln>
        </p:spPr>
      </p:sp>
      <p:sp>
        <p:nvSpPr>
          <p:cNvPr id="46" name="Freeform 46"/>
          <p:cNvSpPr/>
          <p:nvPr/>
        </p:nvSpPr>
        <p:spPr>
          <a:xfrm>
            <a:off x="6115050" y="1485900"/>
            <a:ext cx="1866900" cy="381000"/>
          </a:xfrm>
          <a:custGeom>
            <a:avLst/>
            <a:gdLst/>
            <a:ahLst/>
            <a:cxnLst/>
            <a:rect l="l" t="t" r="r" b="b"/>
            <a:pathLst>
              <a:path w="1866900" h="381000">
                <a:moveTo>
                  <a:pt x="114300" y="0"/>
                </a:moveTo>
                <a:lnTo>
                  <a:pt x="1752600" y="0"/>
                </a:lnTo>
                <a:cubicBezTo>
                  <a:pt x="1815726" y="0"/>
                  <a:pt x="1866900" y="51174"/>
                  <a:pt x="1866900" y="114300"/>
                </a:cubicBezTo>
                <a:lnTo>
                  <a:pt x="1866900" y="381000"/>
                </a:lnTo>
                <a:lnTo>
                  <a:pt x="0" y="381000"/>
                </a:ln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1F5F9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6885949" y="1599724"/>
            <a:ext cx="3251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v2.0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781228" y="2013585"/>
            <a:ext cx="534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34155"/>
                </a:solidFill>
                <a:latin typeface="Georgia"/>
                <a:ea typeface="SimHei"/>
                <a:cs typeface="Georgia"/>
              </a:rPr>
              <a:t>商业化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315990" y="2275999"/>
            <a:ext cx="14650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加密云备份+跨设备同步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725541" y="2466499"/>
            <a:ext cx="6459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+自动填充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725541" y="2656999"/>
            <a:ext cx="6459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+订阅付费</a:t>
            </a:r>
          </a:p>
        </p:txBody>
      </p:sp>
      <p:sp>
        <p:nvSpPr>
          <p:cNvPr id="52" name="Rectangle 52"/>
          <p:cNvSpPr/>
          <p:nvPr/>
        </p:nvSpPr>
        <p:spPr>
          <a:xfrm>
            <a:off x="8877300" y="3962400"/>
            <a:ext cx="186690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288">
            <a:solidFill>
              <a:srgbClr val="E2E8F0"/>
            </a:solidFill>
            <a:custDash>
              <a:ds d="400000" sp="266666"/>
            </a:custDash>
          </a:ln>
        </p:spPr>
      </p:sp>
      <p:sp>
        <p:nvSpPr>
          <p:cNvPr id="53" name="Freeform 53"/>
          <p:cNvSpPr/>
          <p:nvPr/>
        </p:nvSpPr>
        <p:spPr>
          <a:xfrm>
            <a:off x="8877300" y="4953000"/>
            <a:ext cx="1866900" cy="381000"/>
          </a:xfrm>
          <a:custGeom>
            <a:avLst/>
            <a:gdLst/>
            <a:ahLst/>
            <a:cxnLst/>
            <a:rect l="l" t="t" r="r" b="b"/>
            <a:pathLst>
              <a:path w="1866900" h="381000">
                <a:moveTo>
                  <a:pt x="0" y="266700"/>
                </a:moveTo>
                <a:lnTo>
                  <a:pt x="0" y="266700"/>
                </a:lnTo>
                <a:cubicBezTo>
                  <a:pt x="0" y="329826"/>
                  <a:pt x="51174" y="381000"/>
                  <a:pt x="114300" y="381000"/>
                </a:cubicBezTo>
                <a:lnTo>
                  <a:pt x="1752600" y="381000"/>
                </a:lnTo>
                <a:cubicBezTo>
                  <a:pt x="1815726" y="381000"/>
                  <a:pt x="1866900" y="329826"/>
                  <a:pt x="1866900" y="266700"/>
                </a:cubicBezTo>
                <a:lnTo>
                  <a:pt x="18669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9648199" y="5038249"/>
            <a:ext cx="3251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v2.x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459468" y="417576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34155"/>
                </a:solidFill>
                <a:latin typeface="Georgia"/>
                <a:ea typeface="SimHei"/>
                <a:cs typeface="Georgia"/>
              </a:rPr>
              <a:t>生态扩展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146499" y="4428649"/>
            <a:ext cx="13285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浏览器插件+泄露监测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487791" y="4619149"/>
            <a:ext cx="6459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+共享密码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571500" y="6210300"/>
            <a:ext cx="1622084" cy="207169"/>
            <a:chOff x="571500" y="6210300"/>
            <a:chExt cx="1622084" cy="207169"/>
          </a:xfrm>
        </p:grpSpPr>
        <p:sp>
          <p:nvSpPr>
            <p:cNvPr id="58" name="Ellipse 58"/>
            <p:cNvSpPr/>
            <p:nvPr/>
          </p:nvSpPr>
          <p:spPr>
            <a:xfrm>
              <a:off x="571500" y="6210300"/>
              <a:ext cx="152400" cy="152400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609600" y="6257925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76200" h="57150">
                  <a:moveTo>
                    <a:pt x="0" y="28575"/>
                  </a:moveTo>
                  <a:lnTo>
                    <a:pt x="28575" y="57150"/>
                  </a:lnTo>
                  <a:lnTo>
                    <a:pt x="76200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round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87718" y="6219349"/>
              <a:ext cx="434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已完成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1552575" y="6219825"/>
              <a:ext cx="133350" cy="133350"/>
            </a:xfrm>
            <a:prstGeom prst="ellipse">
              <a:avLst/>
            </a:prstGeom>
            <a:solidFill>
              <a:srgbClr val="FFFFFF"/>
            </a:solidFill>
            <a:ln w="23812">
              <a:solidFill>
                <a:srgbClr val="94A3B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759268" y="6219349"/>
              <a:ext cx="434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计划中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11667554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0EA5A4"/>
              </a:gs>
            </a:gsLst>
            <a:lin ang="27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563EB">
                  <a:alpha val="8000"/>
                </a:srgbClr>
              </a:gs>
              <a:gs pos="100000">
                <a:srgbClr val="2563E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5729288" y="1333500"/>
            <a:ext cx="733425" cy="838200"/>
          </a:xfrm>
          <a:custGeom>
            <a:avLst/>
            <a:gdLst/>
            <a:ahLst/>
            <a:cxnLst/>
            <a:rect l="l" t="t" r="r" b="b"/>
            <a:pathLst>
              <a:path w="733425" h="838200">
                <a:moveTo>
                  <a:pt x="366712" y="838200"/>
                </a:moveTo>
                <a:lnTo>
                  <a:pt x="175503" y="701621"/>
                </a:lnTo>
                <a:cubicBezTo>
                  <a:pt x="65365" y="622950"/>
                  <a:pt x="0" y="495935"/>
                  <a:pt x="0" y="360586"/>
                </a:cubicBezTo>
                <a:lnTo>
                  <a:pt x="0" y="157162"/>
                </a:lnTo>
                <a:lnTo>
                  <a:pt x="366712" y="0"/>
                </a:lnTo>
                <a:lnTo>
                  <a:pt x="733425" y="157162"/>
                </a:lnTo>
                <a:lnTo>
                  <a:pt x="733425" y="360586"/>
                </a:lnTo>
                <a:cubicBezTo>
                  <a:pt x="733425" y="495935"/>
                  <a:pt x="668061" y="622950"/>
                  <a:pt x="557922" y="701621"/>
                </a:cubicBezTo>
                <a:lnTo>
                  <a:pt x="366712" y="838200"/>
                </a:lnTo>
                <a:close/>
                <a:moveTo>
                  <a:pt x="587112" y="298981"/>
                </a:moveTo>
                <a:lnTo>
                  <a:pt x="513026" y="224894"/>
                </a:lnTo>
                <a:lnTo>
                  <a:pt x="314325" y="423594"/>
                </a:lnTo>
                <a:lnTo>
                  <a:pt x="220400" y="329669"/>
                </a:lnTo>
                <a:lnTo>
                  <a:pt x="146313" y="403756"/>
                </a:lnTo>
                <a:lnTo>
                  <a:pt x="314325" y="571768"/>
                </a:lnTo>
                <a:lnTo>
                  <a:pt x="587112" y="298981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3281744" y="2406015"/>
            <a:ext cx="5628513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111827"/>
                </a:solidFill>
                <a:latin typeface="Georgia"/>
                <a:ea typeface="SimHei"/>
                <a:cs typeface="Georgia"/>
              </a:rPr>
              <a:t>安全，应该是每个人的权利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04811" y="3108008"/>
            <a:ext cx="378237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SafeVault 让密码管理回归简单与安全</a:t>
            </a:r>
          </a:p>
        </p:txBody>
      </p:sp>
      <p:sp>
        <p:nvSpPr>
          <p:cNvPr id="8" name="Rectangle 8"/>
          <p:cNvSpPr/>
          <p:nvPr/>
        </p:nvSpPr>
        <p:spPr>
          <a:xfrm>
            <a:off x="4572000" y="3619500"/>
            <a:ext cx="3048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0EA5A4"/>
              </a:gs>
            </a:gsLst>
            <a:lin ang="2700000" scaled="1"/>
          </a:gra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649748" y="3852862"/>
            <a:ext cx="289250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2563EB"/>
                </a:solidFill>
                <a:latin typeface="Georgia"/>
                <a:ea typeface="SimHei"/>
                <a:cs typeface="Georgia"/>
              </a:rPr>
              <a:t>指纹一按，密码到手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238500" y="4667250"/>
            <a:ext cx="2667000" cy="533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grpSp>
        <p:nvGrpSpPr>
          <p:cNvPr id="14" name="Group 14"/>
          <p:cNvGrpSpPr/>
          <p:nvPr/>
        </p:nvGrpSpPr>
        <p:grpSpPr>
          <a:xfrm>
            <a:off x="3467100" y="4823414"/>
            <a:ext cx="247650" cy="221071"/>
            <a:chOff x="3467100" y="4823414"/>
            <a:chExt cx="247650" cy="221071"/>
          </a:xfrm>
        </p:grpSpPr>
        <p:sp>
          <p:nvSpPr>
            <p:cNvPr id="11" name="Freeform 11"/>
            <p:cNvSpPr/>
            <p:nvPr/>
          </p:nvSpPr>
          <p:spPr>
            <a:xfrm>
              <a:off x="3560124" y="4823414"/>
              <a:ext cx="61601" cy="221071"/>
            </a:xfrm>
            <a:custGeom>
              <a:avLst/>
              <a:gdLst/>
              <a:ahLst/>
              <a:cxnLst/>
              <a:rect l="l" t="t" r="r" b="b"/>
              <a:pathLst>
                <a:path w="61601" h="221071">
                  <a:moveTo>
                    <a:pt x="30956" y="0"/>
                  </a:moveTo>
                  <a:lnTo>
                    <a:pt x="0" y="216694"/>
                  </a:lnTo>
                  <a:lnTo>
                    <a:pt x="30645" y="221071"/>
                  </a:lnTo>
                  <a:lnTo>
                    <a:pt x="61601" y="4378"/>
                  </a:lnTo>
                  <a:lnTo>
                    <a:pt x="30956" y="0"/>
                  </a:lnTo>
                  <a:close/>
                </a:path>
              </a:pathLst>
            </a:custGeom>
            <a:solidFill>
              <a:srgbClr val="111827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3638687" y="4879777"/>
              <a:ext cx="76063" cy="108347"/>
            </a:xfrm>
            <a:custGeom>
              <a:avLst/>
              <a:gdLst/>
              <a:ahLst/>
              <a:cxnLst/>
              <a:rect l="l" t="t" r="r" b="b"/>
              <a:pathLst>
                <a:path w="76063" h="108347">
                  <a:moveTo>
                    <a:pt x="21889" y="108347"/>
                  </a:moveTo>
                  <a:lnTo>
                    <a:pt x="0" y="86458"/>
                  </a:lnTo>
                  <a:lnTo>
                    <a:pt x="32284" y="54173"/>
                  </a:lnTo>
                  <a:lnTo>
                    <a:pt x="0" y="21889"/>
                  </a:lnTo>
                  <a:lnTo>
                    <a:pt x="21889" y="0"/>
                  </a:lnTo>
                  <a:lnTo>
                    <a:pt x="76063" y="54173"/>
                  </a:lnTo>
                  <a:lnTo>
                    <a:pt x="21889" y="108347"/>
                  </a:lnTo>
                  <a:close/>
                </a:path>
              </a:pathLst>
            </a:custGeom>
            <a:solidFill>
              <a:srgbClr val="11182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467100" y="4879777"/>
              <a:ext cx="76063" cy="108347"/>
            </a:xfrm>
            <a:custGeom>
              <a:avLst/>
              <a:gdLst/>
              <a:ahLst/>
              <a:cxnLst/>
              <a:rect l="l" t="t" r="r" b="b"/>
              <a:pathLst>
                <a:path w="76063" h="108347">
                  <a:moveTo>
                    <a:pt x="43779" y="54173"/>
                  </a:moveTo>
                  <a:lnTo>
                    <a:pt x="76063" y="86458"/>
                  </a:lnTo>
                  <a:lnTo>
                    <a:pt x="54173" y="108347"/>
                  </a:lnTo>
                  <a:lnTo>
                    <a:pt x="0" y="54173"/>
                  </a:lnTo>
                  <a:lnTo>
                    <a:pt x="54173" y="0"/>
                  </a:lnTo>
                  <a:lnTo>
                    <a:pt x="76063" y="21889"/>
                  </a:lnTo>
                  <a:lnTo>
                    <a:pt x="43779" y="54173"/>
                  </a:lnTo>
                  <a:close/>
                </a:path>
              </a:pathLst>
            </a:custGeom>
            <a:solidFill>
              <a:srgbClr val="111827"/>
            </a:solidFill>
            <a:ln>
              <a:noFill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3699510" y="4852035"/>
            <a:ext cx="18283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11827"/>
                </a:solidFill>
                <a:latin typeface="Consolas"/>
                <a:ea typeface="Microsoft YaHei"/>
                <a:cs typeface="Consolas"/>
              </a:rPr>
              <a:t>github.com/safevault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286500" y="4667250"/>
            <a:ext cx="2667000" cy="533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grpSp>
        <p:nvGrpSpPr>
          <p:cNvPr id="21" name="Group 21"/>
          <p:cNvGrpSpPr/>
          <p:nvPr/>
        </p:nvGrpSpPr>
        <p:grpSpPr>
          <a:xfrm>
            <a:off x="6516058" y="4810125"/>
            <a:ext cx="245734" cy="247650"/>
            <a:chOff x="6516058" y="4810125"/>
            <a:chExt cx="245734" cy="247650"/>
          </a:xfrm>
        </p:grpSpPr>
        <p:sp>
          <p:nvSpPr>
            <p:cNvPr id="17" name="Freeform 17"/>
            <p:cNvSpPr/>
            <p:nvPr/>
          </p:nvSpPr>
          <p:spPr>
            <a:xfrm>
              <a:off x="6516058" y="4861327"/>
              <a:ext cx="245734" cy="57145"/>
            </a:xfrm>
            <a:custGeom>
              <a:avLst/>
              <a:gdLst/>
              <a:ahLst/>
              <a:cxnLst/>
              <a:rect l="l" t="t" r="r" b="b"/>
              <a:pathLst>
                <a:path w="245734" h="57145">
                  <a:moveTo>
                    <a:pt x="22564" y="0"/>
                  </a:moveTo>
                  <a:cubicBezTo>
                    <a:pt x="10626" y="16460"/>
                    <a:pt x="2640" y="35972"/>
                    <a:pt x="0" y="57145"/>
                  </a:cubicBezTo>
                  <a:lnTo>
                    <a:pt x="245734" y="57145"/>
                  </a:lnTo>
                  <a:cubicBezTo>
                    <a:pt x="243093" y="35972"/>
                    <a:pt x="235108" y="16460"/>
                    <a:pt x="223170" y="0"/>
                  </a:cubicBezTo>
                  <a:cubicBezTo>
                    <a:pt x="222526" y="360"/>
                    <a:pt x="221873" y="721"/>
                    <a:pt x="221212" y="1082"/>
                  </a:cubicBezTo>
                  <a:cubicBezTo>
                    <a:pt x="198221" y="13622"/>
                    <a:pt x="164728" y="26189"/>
                    <a:pt x="122867" y="26189"/>
                  </a:cubicBezTo>
                  <a:cubicBezTo>
                    <a:pt x="81006" y="26189"/>
                    <a:pt x="47512" y="13622"/>
                    <a:pt x="24521" y="1082"/>
                  </a:cubicBezTo>
                  <a:cubicBezTo>
                    <a:pt x="23860" y="721"/>
                    <a:pt x="23208" y="361"/>
                    <a:pt x="22564" y="0"/>
                  </a:cubic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6560664" y="4810125"/>
              <a:ext cx="156522" cy="46434"/>
            </a:xfrm>
            <a:custGeom>
              <a:avLst/>
              <a:gdLst/>
              <a:ahLst/>
              <a:cxnLst/>
              <a:rect l="l" t="t" r="r" b="b"/>
              <a:pathLst>
                <a:path w="156522" h="46434">
                  <a:moveTo>
                    <a:pt x="156522" y="27862"/>
                  </a:moveTo>
                  <a:cubicBezTo>
                    <a:pt x="137254" y="37542"/>
                    <a:pt x="110726" y="46434"/>
                    <a:pt x="78261" y="46434"/>
                  </a:cubicBezTo>
                  <a:cubicBezTo>
                    <a:pt x="45795" y="46434"/>
                    <a:pt x="19268" y="37542"/>
                    <a:pt x="0" y="27863"/>
                  </a:cubicBezTo>
                  <a:cubicBezTo>
                    <a:pt x="21330" y="10446"/>
                    <a:pt x="48576" y="0"/>
                    <a:pt x="78261" y="0"/>
                  </a:cubicBezTo>
                  <a:cubicBezTo>
                    <a:pt x="107946" y="0"/>
                    <a:pt x="135191" y="10446"/>
                    <a:pt x="156522" y="27862"/>
                  </a:cubic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6516058" y="4949428"/>
              <a:ext cx="245734" cy="57145"/>
            </a:xfrm>
            <a:custGeom>
              <a:avLst/>
              <a:gdLst/>
              <a:ahLst/>
              <a:cxnLst/>
              <a:rect l="l" t="t" r="r" b="b"/>
              <a:pathLst>
                <a:path w="245734" h="57145">
                  <a:moveTo>
                    <a:pt x="0" y="0"/>
                  </a:moveTo>
                  <a:cubicBezTo>
                    <a:pt x="2640" y="21173"/>
                    <a:pt x="10626" y="40686"/>
                    <a:pt x="22564" y="57145"/>
                  </a:cubicBezTo>
                  <a:cubicBezTo>
                    <a:pt x="23208" y="56785"/>
                    <a:pt x="23860" y="56424"/>
                    <a:pt x="24521" y="56063"/>
                  </a:cubicBezTo>
                  <a:cubicBezTo>
                    <a:pt x="47512" y="43523"/>
                    <a:pt x="81006" y="30956"/>
                    <a:pt x="122867" y="30956"/>
                  </a:cubicBezTo>
                  <a:cubicBezTo>
                    <a:pt x="164728" y="30956"/>
                    <a:pt x="198222" y="43523"/>
                    <a:pt x="221212" y="56063"/>
                  </a:cubicBezTo>
                  <a:cubicBezTo>
                    <a:pt x="221874" y="56424"/>
                    <a:pt x="222526" y="56785"/>
                    <a:pt x="223170" y="57145"/>
                  </a:cubicBezTo>
                  <a:cubicBezTo>
                    <a:pt x="235108" y="40686"/>
                    <a:pt x="243093" y="21173"/>
                    <a:pt x="24573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6560664" y="5011341"/>
              <a:ext cx="156521" cy="46434"/>
            </a:xfrm>
            <a:custGeom>
              <a:avLst/>
              <a:gdLst/>
              <a:ahLst/>
              <a:cxnLst/>
              <a:rect l="l" t="t" r="r" b="b"/>
              <a:pathLst>
                <a:path w="156521" h="46434">
                  <a:moveTo>
                    <a:pt x="78261" y="46434"/>
                  </a:moveTo>
                  <a:cubicBezTo>
                    <a:pt x="48576" y="46434"/>
                    <a:pt x="21330" y="35988"/>
                    <a:pt x="0" y="18572"/>
                  </a:cubicBezTo>
                  <a:cubicBezTo>
                    <a:pt x="19268" y="8892"/>
                    <a:pt x="45795" y="0"/>
                    <a:pt x="78261" y="0"/>
                  </a:cubicBezTo>
                  <a:cubicBezTo>
                    <a:pt x="110726" y="0"/>
                    <a:pt x="137254" y="8892"/>
                    <a:pt x="156521" y="18572"/>
                  </a:cubicBezTo>
                  <a:cubicBezTo>
                    <a:pt x="135191" y="35988"/>
                    <a:pt x="107946" y="46434"/>
                    <a:pt x="78261" y="46434"/>
                  </a:cubic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6785610" y="4852035"/>
            <a:ext cx="118982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safevault.app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76900" y="5648325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感谢观看</a:t>
            </a:r>
          </a:p>
        </p:txBody>
      </p:sp>
      <p:sp>
        <p:nvSpPr>
          <p:cNvPr id="24" name="Rectangle 24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F172A">
              <a:alpha val="5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380357" y="6627495"/>
            <a:ext cx="343128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CA3AF"/>
                </a:solidFill>
                <a:latin typeface="Consolas"/>
                <a:ea typeface="Microsoft YaHei"/>
                <a:cs typeface="Consolas"/>
              </a:rPr>
              <a:t>SAFEVAULT · LOCAL FIRST · ZERO KNOWLEDGE · OPEN SOURCE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667554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2026-06-13T17:51:46Z</dcterms:created>
  <dcterms:modified xsi:type="dcterms:W3CDTF">2026-06-13T17:51:46Z</dcterms:modified>
  <cp:category/>
  <cp:contentStatus/>
</cp:coreProperties>
</file>